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ero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Numero diapositiva"/>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
        <p:nvSpPr>
          <p:cNvPr id="3" name="Titolo Testo"/>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Titolo Testo</a:t>
            </a:r>
          </a:p>
        </p:txBody>
      </p:sp>
      <p:sp>
        <p:nvSpPr>
          <p:cNvPr id="4" name="Corpo livello uno…"/>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Corpo livello uno</a:t>
            </a:r>
          </a:p>
          <a:p>
            <a:pPr lvl="1"/>
            <a:r>
              <a:t>Corpo livello due</a:t>
            </a:r>
          </a:p>
          <a:p>
            <a:pPr lvl="2"/>
            <a:r>
              <a:t>Corpo livello tre</a:t>
            </a:r>
          </a:p>
          <a:p>
            <a:pPr lvl="3"/>
            <a:r>
              <a:t>Corpo livello quattro</a:t>
            </a:r>
          </a:p>
          <a:p>
            <a:pPr lvl="4"/>
            <a:r>
              <a:t>Corpo livello cinque</a:t>
            </a:r>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B2A4A"/>
        </a:solidFill>
      </p:bgPr>
    </p:bg>
    <p:spTree>
      <p:nvGrpSpPr>
        <p:cNvPr id="1" name=""/>
        <p:cNvGrpSpPr/>
        <p:nvPr/>
      </p:nvGrpSpPr>
      <p:grpSpPr>
        <a:xfrm>
          <a:off x="0" y="0"/>
          <a:ext cx="0" cy="0"/>
          <a:chOff x="0" y="0"/>
          <a:chExt cx="0" cy="0"/>
        </a:xfrm>
      </p:grpSpPr>
      <p:sp>
        <p:nvSpPr>
          <p:cNvPr id="20" name="Shape 0"/>
          <p:cNvSpPr/>
          <p:nvPr/>
        </p:nvSpPr>
        <p:spPr>
          <a:xfrm>
            <a:off x="8778240" y="-1828801"/>
            <a:ext cx="5943601" cy="5943601"/>
          </a:xfrm>
          <a:prstGeom prst="ellipse">
            <a:avLst/>
          </a:prstGeom>
          <a:solidFill>
            <a:srgbClr val="1B2A4A"/>
          </a:solidFill>
          <a:ln w="19050">
            <a:solidFill>
              <a:srgbClr val="2E3F66"/>
            </a:solidFill>
          </a:ln>
        </p:spPr>
        <p:txBody>
          <a:bodyPr lIns="45719" rIns="45719"/>
          <a:lstStyle/>
          <a:p>
            <a:pPr/>
          </a:p>
        </p:txBody>
      </p:sp>
      <p:sp>
        <p:nvSpPr>
          <p:cNvPr id="21" name="Shape 1"/>
          <p:cNvSpPr/>
          <p:nvPr/>
        </p:nvSpPr>
        <p:spPr>
          <a:xfrm>
            <a:off x="9692640" y="-914401"/>
            <a:ext cx="4114801" cy="4114801"/>
          </a:xfrm>
          <a:prstGeom prst="ellipse">
            <a:avLst/>
          </a:prstGeom>
          <a:solidFill>
            <a:srgbClr val="1B2A4A"/>
          </a:solidFill>
          <a:ln w="15875">
            <a:solidFill>
              <a:srgbClr val="35486F"/>
            </a:solidFill>
          </a:ln>
        </p:spPr>
        <p:txBody>
          <a:bodyPr lIns="45719" rIns="45719"/>
          <a:lstStyle/>
          <a:p>
            <a:pPr/>
          </a:p>
        </p:txBody>
      </p:sp>
      <p:sp>
        <p:nvSpPr>
          <p:cNvPr id="22" name="Text 2"/>
          <p:cNvSpPr txBox="1"/>
          <p:nvPr/>
        </p:nvSpPr>
        <p:spPr>
          <a:xfrm>
            <a:off x="777240" y="1920239"/>
            <a:ext cx="10332720" cy="10607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2000"/>
              </a:lnSpc>
              <a:defRPr sz="3000">
                <a:solidFill>
                  <a:srgbClr val="FFFFFF"/>
                </a:solidFill>
                <a:latin typeface="Cambria"/>
                <a:ea typeface="Cambria"/>
                <a:cs typeface="Cambria"/>
                <a:sym typeface="Cambria"/>
              </a:defRPr>
            </a:pPr>
            <a:r>
              <a:t>Privacy Attacks and Countermeasures</a:t>
            </a:r>
          </a:p>
          <a:p>
            <a:pPr>
              <a:lnSpc>
                <a:spcPct val="112000"/>
              </a:lnSpc>
              <a:defRPr sz="3000">
                <a:solidFill>
                  <a:srgbClr val="FFFFFF"/>
                </a:solidFill>
                <a:latin typeface="Cambria"/>
                <a:ea typeface="Cambria"/>
                <a:cs typeface="Cambria"/>
                <a:sym typeface="Cambria"/>
              </a:defRPr>
            </a:pPr>
            <a:r>
              <a:t>in Biometric Gait Identification</a:t>
            </a:r>
          </a:p>
        </p:txBody>
      </p:sp>
      <p:sp>
        <p:nvSpPr>
          <p:cNvPr id="23" name="Text 3"/>
          <p:cNvSpPr txBox="1"/>
          <p:nvPr/>
        </p:nvSpPr>
        <p:spPr>
          <a:xfrm>
            <a:off x="777240" y="3804482"/>
            <a:ext cx="5425148" cy="300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i="1" sz="1600">
                <a:solidFill>
                  <a:srgbClr val="BBD6F2"/>
                </a:solidFill>
              </a:defRPr>
            </a:pPr>
            <a:r>
              <a:t>Master’s Degree in Cybersecurity </a:t>
            </a:r>
            <a:r>
              <a:rPr i="0"/>
              <a:t>|</a:t>
            </a:r>
            <a:r>
              <a:t> Academic Year 2025/2026</a:t>
            </a:r>
          </a:p>
        </p:txBody>
      </p:sp>
      <p:sp>
        <p:nvSpPr>
          <p:cNvPr id="24" name="Text 4"/>
          <p:cNvSpPr txBox="1"/>
          <p:nvPr/>
        </p:nvSpPr>
        <p:spPr>
          <a:xfrm>
            <a:off x="777239" y="5074920"/>
            <a:ext cx="7680961" cy="13550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ts val="2000"/>
              </a:lnSpc>
              <a:defRPr b="1" sz="1900">
                <a:solidFill>
                  <a:srgbClr val="FFFFFF"/>
                </a:solidFill>
              </a:defRPr>
            </a:pPr>
            <a:r>
              <a:t>Tommaso Danieli</a:t>
            </a:r>
          </a:p>
          <a:p>
            <a:pPr>
              <a:lnSpc>
                <a:spcPts val="2000"/>
              </a:lnSpc>
              <a:defRPr sz="1500">
                <a:solidFill>
                  <a:srgbClr val="BBD6F2"/>
                </a:solidFill>
              </a:defRPr>
            </a:pPr>
            <a:r>
              <a:t>Student ID: 2152871</a:t>
            </a:r>
            <a:endParaRPr sz="1900"/>
          </a:p>
          <a:p>
            <a:pPr>
              <a:lnSpc>
                <a:spcPts val="2000"/>
              </a:lnSpc>
              <a:defRPr sz="1500">
                <a:solidFill>
                  <a:srgbClr val="BBD6F2"/>
                </a:solidFill>
              </a:defRPr>
            </a:pPr>
            <a:r>
              <a:t>Supervisor: Prof. Simone Milani</a:t>
            </a:r>
            <a:endParaRPr sz="1900"/>
          </a:p>
          <a:p>
            <a:pPr>
              <a:lnSpc>
                <a:spcPts val="2000"/>
              </a:lnSpc>
              <a:defRPr sz="1400">
                <a:solidFill>
                  <a:srgbClr val="8FA8C9"/>
                </a:solidFill>
              </a:defRPr>
            </a:pPr>
            <a:r>
              <a:t>University of Padova — Master's Degree in Cybersecurity</a:t>
            </a:r>
            <a:endParaRPr sz="1900"/>
          </a:p>
          <a:p>
            <a:pPr>
              <a:lnSpc>
                <a:spcPts val="2000"/>
              </a:lnSpc>
              <a:defRPr sz="1400">
                <a:solidFill>
                  <a:srgbClr val="8FA8C9"/>
                </a:solidFill>
              </a:defRPr>
            </a:pPr>
            <a:r>
              <a:t>[Defense Date]</a:t>
            </a:r>
          </a:p>
        </p:txBody>
      </p:sp>
      <p:pic>
        <p:nvPicPr>
          <p:cNvPr id="25" name="logo-2.png" descr="logo-2.png"/>
          <p:cNvPicPr>
            <a:picLocks noChangeAspect="1"/>
          </p:cNvPicPr>
          <p:nvPr/>
        </p:nvPicPr>
        <p:blipFill>
          <a:blip r:embed="rId2">
            <a:extLst/>
          </a:blip>
          <a:stretch>
            <a:fillRect/>
          </a:stretch>
        </p:blipFill>
        <p:spPr>
          <a:xfrm>
            <a:off x="6919353" y="5144083"/>
            <a:ext cx="4875112" cy="1207239"/>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7" name="Text 0"/>
          <p:cNvSpPr txBox="1"/>
          <p:nvPr/>
        </p:nvSpPr>
        <p:spPr>
          <a:xfrm>
            <a:off x="594360"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INTRODUCTION</a:t>
            </a:r>
          </a:p>
        </p:txBody>
      </p:sp>
      <p:sp>
        <p:nvSpPr>
          <p:cNvPr id="28" name="Text 1"/>
          <p:cNvSpPr txBox="1"/>
          <p:nvPr/>
        </p:nvSpPr>
        <p:spPr>
          <a:xfrm>
            <a:off x="594359" y="745998"/>
            <a:ext cx="10972802"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The Problem: Continual Learning Meets Privacy</a:t>
            </a:r>
          </a:p>
        </p:txBody>
      </p:sp>
      <p:sp>
        <p:nvSpPr>
          <p:cNvPr id="29" name="Text 2"/>
          <p:cNvSpPr txBox="1"/>
          <p:nvPr/>
        </p:nvSpPr>
        <p:spPr>
          <a:xfrm>
            <a:off x="594359" y="1414080"/>
            <a:ext cx="10972802"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1B2A4A"/>
                </a:solidFill>
              </a:defRPr>
            </a:lvl1pPr>
          </a:lstStyle>
          <a:p>
            <a:pPr/>
            <a:r>
              <a:t>Gait recognition from wearable IMUs authenticates users continuously, without active cooperation. But real systems enroll new users over time, thus the model must adapt without erasing old identities or leaking private information.</a:t>
            </a:r>
          </a:p>
        </p:txBody>
      </p:sp>
      <p:sp>
        <p:nvSpPr>
          <p:cNvPr id="30" name="Text 3"/>
          <p:cNvSpPr txBox="1"/>
          <p:nvPr/>
        </p:nvSpPr>
        <p:spPr>
          <a:xfrm>
            <a:off x="594359" y="2035986"/>
            <a:ext cx="57607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5B6B82"/>
                </a:solidFill>
              </a:defRPr>
            </a:lvl1pPr>
          </a:lstStyle>
          <a:p>
            <a:pPr/>
            <a:r>
              <a:t>New subject cohorts arrive sequentially:</a:t>
            </a:r>
          </a:p>
        </p:txBody>
      </p:sp>
      <p:sp>
        <p:nvSpPr>
          <p:cNvPr id="31" name="Shape 4"/>
          <p:cNvSpPr/>
          <p:nvPr/>
        </p:nvSpPr>
        <p:spPr>
          <a:xfrm>
            <a:off x="548640" y="2331720"/>
            <a:ext cx="1188720" cy="594361"/>
          </a:xfrm>
          <a:prstGeom prst="roundRect">
            <a:avLst>
              <a:gd name="adj" fmla="val 12308"/>
            </a:avLst>
          </a:prstGeom>
          <a:solidFill>
            <a:srgbClr val="1C7293"/>
          </a:solidFill>
          <a:ln w="12700">
            <a:solidFill>
              <a:srgbClr val="1C7293"/>
            </a:solidFill>
          </a:ln>
        </p:spPr>
        <p:txBody>
          <a:bodyPr lIns="45719" rIns="45719"/>
          <a:lstStyle/>
          <a:p>
            <a:pPr/>
          </a:p>
        </p:txBody>
      </p:sp>
      <p:sp>
        <p:nvSpPr>
          <p:cNvPr id="32" name="Text 5"/>
          <p:cNvSpPr txBox="1"/>
          <p:nvPr/>
        </p:nvSpPr>
        <p:spPr>
          <a:xfrm>
            <a:off x="594360" y="2433496"/>
            <a:ext cx="1097281" cy="3908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100">
                <a:solidFill>
                  <a:srgbClr val="FFFFFF"/>
                </a:solidFill>
              </a:defRPr>
            </a:pPr>
            <a:r>
              <a:t>T1</a:t>
            </a:r>
          </a:p>
          <a:p>
            <a:pPr algn="ctr">
              <a:defRPr b="1" sz="1100">
                <a:solidFill>
                  <a:srgbClr val="FFFFFF"/>
                </a:solidFill>
              </a:defRPr>
            </a:pPr>
            <a:r>
              <a:t>30 subj.</a:t>
            </a:r>
          </a:p>
        </p:txBody>
      </p:sp>
      <p:sp>
        <p:nvSpPr>
          <p:cNvPr id="33" name="Shape 6"/>
          <p:cNvSpPr/>
          <p:nvPr/>
        </p:nvSpPr>
        <p:spPr>
          <a:xfrm>
            <a:off x="1874520" y="2331720"/>
            <a:ext cx="1188721" cy="594361"/>
          </a:xfrm>
          <a:prstGeom prst="roundRect">
            <a:avLst>
              <a:gd name="adj" fmla="val 12308"/>
            </a:avLst>
          </a:prstGeom>
          <a:solidFill>
            <a:srgbClr val="1C7293"/>
          </a:solidFill>
          <a:ln w="12700">
            <a:solidFill>
              <a:srgbClr val="1C7293"/>
            </a:solidFill>
          </a:ln>
        </p:spPr>
        <p:txBody>
          <a:bodyPr lIns="45719" rIns="45719"/>
          <a:lstStyle/>
          <a:p>
            <a:pPr/>
          </a:p>
        </p:txBody>
      </p:sp>
      <p:sp>
        <p:nvSpPr>
          <p:cNvPr id="34" name="Text 7"/>
          <p:cNvSpPr txBox="1"/>
          <p:nvPr/>
        </p:nvSpPr>
        <p:spPr>
          <a:xfrm>
            <a:off x="1920240" y="2433496"/>
            <a:ext cx="1097281" cy="3908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100">
                <a:solidFill>
                  <a:srgbClr val="FFFFFF"/>
                </a:solidFill>
              </a:defRPr>
            </a:pPr>
            <a:r>
              <a:t>T2</a:t>
            </a:r>
          </a:p>
          <a:p>
            <a:pPr algn="ctr">
              <a:defRPr b="1" sz="1100">
                <a:solidFill>
                  <a:srgbClr val="FFFFFF"/>
                </a:solidFill>
              </a:defRPr>
            </a:pPr>
            <a:r>
              <a:t>30 subj.</a:t>
            </a:r>
          </a:p>
        </p:txBody>
      </p:sp>
      <p:sp>
        <p:nvSpPr>
          <p:cNvPr id="35" name="Shape 8"/>
          <p:cNvSpPr/>
          <p:nvPr/>
        </p:nvSpPr>
        <p:spPr>
          <a:xfrm>
            <a:off x="3200400" y="2331720"/>
            <a:ext cx="1188720" cy="594361"/>
          </a:xfrm>
          <a:prstGeom prst="roundRect">
            <a:avLst>
              <a:gd name="adj" fmla="val 12308"/>
            </a:avLst>
          </a:prstGeom>
          <a:solidFill>
            <a:srgbClr val="1C7293"/>
          </a:solidFill>
          <a:ln w="12700">
            <a:solidFill>
              <a:srgbClr val="1C7293"/>
            </a:solidFill>
          </a:ln>
        </p:spPr>
        <p:txBody>
          <a:bodyPr lIns="45719" rIns="45719"/>
          <a:lstStyle/>
          <a:p>
            <a:pPr/>
          </a:p>
        </p:txBody>
      </p:sp>
      <p:sp>
        <p:nvSpPr>
          <p:cNvPr id="36" name="Text 9"/>
          <p:cNvSpPr txBox="1"/>
          <p:nvPr/>
        </p:nvSpPr>
        <p:spPr>
          <a:xfrm>
            <a:off x="3246120" y="2433496"/>
            <a:ext cx="1097280" cy="3908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100">
                <a:solidFill>
                  <a:srgbClr val="FFFFFF"/>
                </a:solidFill>
              </a:defRPr>
            </a:pPr>
            <a:r>
              <a:t>T3</a:t>
            </a:r>
          </a:p>
          <a:p>
            <a:pPr algn="ctr">
              <a:defRPr b="1" sz="1100">
                <a:solidFill>
                  <a:srgbClr val="FFFFFF"/>
                </a:solidFill>
              </a:defRPr>
            </a:pPr>
            <a:r>
              <a:t>30 subj.</a:t>
            </a:r>
          </a:p>
        </p:txBody>
      </p:sp>
      <p:sp>
        <p:nvSpPr>
          <p:cNvPr id="37" name="Shape 10"/>
          <p:cNvSpPr/>
          <p:nvPr/>
        </p:nvSpPr>
        <p:spPr>
          <a:xfrm>
            <a:off x="4526279" y="2331720"/>
            <a:ext cx="1188721" cy="594361"/>
          </a:xfrm>
          <a:prstGeom prst="roundRect">
            <a:avLst>
              <a:gd name="adj" fmla="val 12308"/>
            </a:avLst>
          </a:prstGeom>
          <a:solidFill>
            <a:srgbClr val="1C7293"/>
          </a:solidFill>
          <a:ln w="12700">
            <a:solidFill>
              <a:srgbClr val="1C7293"/>
            </a:solidFill>
          </a:ln>
        </p:spPr>
        <p:txBody>
          <a:bodyPr lIns="45719" rIns="45719"/>
          <a:lstStyle/>
          <a:p>
            <a:pPr/>
          </a:p>
        </p:txBody>
      </p:sp>
      <p:sp>
        <p:nvSpPr>
          <p:cNvPr id="38" name="Text 11"/>
          <p:cNvSpPr txBox="1"/>
          <p:nvPr/>
        </p:nvSpPr>
        <p:spPr>
          <a:xfrm>
            <a:off x="4571999" y="2433496"/>
            <a:ext cx="1097281" cy="3908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100">
                <a:solidFill>
                  <a:srgbClr val="FFFFFF"/>
                </a:solidFill>
              </a:defRPr>
            </a:pPr>
            <a:r>
              <a:t>T4</a:t>
            </a:r>
          </a:p>
          <a:p>
            <a:pPr algn="ctr">
              <a:defRPr b="1" sz="1100">
                <a:solidFill>
                  <a:srgbClr val="FFFFFF"/>
                </a:solidFill>
              </a:defRPr>
            </a:pPr>
            <a:r>
              <a:t>30</a:t>
            </a:r>
            <a:r>
              <a:t> subj.</a:t>
            </a:r>
          </a:p>
        </p:txBody>
      </p:sp>
      <p:sp>
        <p:nvSpPr>
          <p:cNvPr id="39" name="Shape 12"/>
          <p:cNvSpPr/>
          <p:nvPr/>
        </p:nvSpPr>
        <p:spPr>
          <a:xfrm>
            <a:off x="1142999" y="2958084"/>
            <a:ext cx="1" cy="256033"/>
          </a:xfrm>
          <a:prstGeom prst="line">
            <a:avLst/>
          </a:prstGeom>
          <a:ln w="19050">
            <a:solidFill>
              <a:srgbClr val="1B2A4A"/>
            </a:solidFill>
            <a:tailEnd type="triangle"/>
          </a:ln>
        </p:spPr>
        <p:txBody>
          <a:bodyPr lIns="45719" rIns="45719"/>
          <a:lstStyle/>
          <a:p>
            <a:pPr/>
          </a:p>
        </p:txBody>
      </p:sp>
      <p:sp>
        <p:nvSpPr>
          <p:cNvPr id="40" name="Shape 13"/>
          <p:cNvSpPr/>
          <p:nvPr/>
        </p:nvSpPr>
        <p:spPr>
          <a:xfrm>
            <a:off x="548640" y="3246120"/>
            <a:ext cx="5166360" cy="640081"/>
          </a:xfrm>
          <a:prstGeom prst="roundRect">
            <a:avLst>
              <a:gd name="adj" fmla="val 11429"/>
            </a:avLst>
          </a:prstGeom>
          <a:solidFill>
            <a:srgbClr val="1B2A4A"/>
          </a:solidFill>
          <a:ln w="12700">
            <a:solidFill>
              <a:srgbClr val="1B2A4A"/>
            </a:solidFill>
          </a:ln>
        </p:spPr>
        <p:txBody>
          <a:bodyPr lIns="45719" rIns="45719"/>
          <a:lstStyle/>
          <a:p>
            <a:pPr/>
          </a:p>
        </p:txBody>
      </p:sp>
      <p:sp>
        <p:nvSpPr>
          <p:cNvPr id="41" name="Text 14"/>
          <p:cNvSpPr txBox="1"/>
          <p:nvPr/>
        </p:nvSpPr>
        <p:spPr>
          <a:xfrm>
            <a:off x="594359" y="3437059"/>
            <a:ext cx="507492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Sequential Model Updates:  M1 → M2 → M3 → M4</a:t>
            </a:r>
          </a:p>
        </p:txBody>
      </p:sp>
      <p:sp>
        <p:nvSpPr>
          <p:cNvPr id="42" name="Shape 15"/>
          <p:cNvSpPr/>
          <p:nvPr/>
        </p:nvSpPr>
        <p:spPr>
          <a:xfrm flipV="1">
            <a:off x="5714999" y="2697479"/>
            <a:ext cx="777242" cy="594361"/>
          </a:xfrm>
          <a:prstGeom prst="line">
            <a:avLst/>
          </a:prstGeom>
          <a:ln w="19050">
            <a:solidFill>
              <a:srgbClr val="C97A2E"/>
            </a:solidFill>
            <a:prstDash val="dash"/>
            <a:tailEnd type="triangle"/>
          </a:ln>
        </p:spPr>
        <p:txBody>
          <a:bodyPr lIns="45719" rIns="45719"/>
          <a:lstStyle/>
          <a:p>
            <a:pPr/>
          </a:p>
        </p:txBody>
      </p:sp>
      <p:sp>
        <p:nvSpPr>
          <p:cNvPr id="43" name="Shape 16"/>
          <p:cNvSpPr/>
          <p:nvPr/>
        </p:nvSpPr>
        <p:spPr>
          <a:xfrm>
            <a:off x="5714999" y="3611879"/>
            <a:ext cx="777242" cy="731521"/>
          </a:xfrm>
          <a:prstGeom prst="line">
            <a:avLst/>
          </a:prstGeom>
          <a:ln w="19050">
            <a:solidFill>
              <a:srgbClr val="B33A3A"/>
            </a:solidFill>
            <a:prstDash val="dash"/>
            <a:tailEnd type="triangle"/>
          </a:ln>
        </p:spPr>
        <p:txBody>
          <a:bodyPr lIns="45719" rIns="45719"/>
          <a:lstStyle/>
          <a:p>
            <a:pPr/>
          </a:p>
        </p:txBody>
      </p:sp>
      <p:sp>
        <p:nvSpPr>
          <p:cNvPr id="44" name="Shape 17"/>
          <p:cNvSpPr/>
          <p:nvPr/>
        </p:nvSpPr>
        <p:spPr>
          <a:xfrm>
            <a:off x="6492240" y="2331720"/>
            <a:ext cx="4434841" cy="777241"/>
          </a:xfrm>
          <a:prstGeom prst="roundRect">
            <a:avLst>
              <a:gd name="adj" fmla="val 9412"/>
            </a:avLst>
          </a:prstGeom>
          <a:solidFill>
            <a:srgbClr val="C97A2E"/>
          </a:solidFill>
          <a:ln w="12700">
            <a:solidFill>
              <a:srgbClr val="C97A2E"/>
            </a:solidFill>
          </a:ln>
        </p:spPr>
        <p:txBody>
          <a:bodyPr lIns="45719" rIns="45719"/>
          <a:lstStyle/>
          <a:p>
            <a:pPr/>
          </a:p>
        </p:txBody>
      </p:sp>
      <p:sp>
        <p:nvSpPr>
          <p:cNvPr id="45" name="Text 18"/>
          <p:cNvSpPr txBox="1"/>
          <p:nvPr/>
        </p:nvSpPr>
        <p:spPr>
          <a:xfrm>
            <a:off x="6537960" y="2581342"/>
            <a:ext cx="434340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FFFFFF"/>
                </a:solidFill>
              </a:defRPr>
            </a:lvl1pPr>
          </a:lstStyle>
          <a:p>
            <a:pPr/>
            <a:r>
              <a:t>Catastrophic Forgetting</a:t>
            </a:r>
          </a:p>
        </p:txBody>
      </p:sp>
      <p:sp>
        <p:nvSpPr>
          <p:cNvPr id="46" name="Text 19"/>
          <p:cNvSpPr txBox="1"/>
          <p:nvPr/>
        </p:nvSpPr>
        <p:spPr>
          <a:xfrm>
            <a:off x="6537960" y="3200444"/>
            <a:ext cx="43434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5B6B82"/>
                </a:solidFill>
              </a:defRPr>
            </a:lvl1pPr>
          </a:lstStyle>
          <a:p>
            <a:pPr/>
            <a:r>
              <a:t>Model overwrites knowledge of earlier users</a:t>
            </a:r>
          </a:p>
        </p:txBody>
      </p:sp>
      <p:sp>
        <p:nvSpPr>
          <p:cNvPr id="47" name="Shape 20"/>
          <p:cNvSpPr/>
          <p:nvPr/>
        </p:nvSpPr>
        <p:spPr>
          <a:xfrm>
            <a:off x="6492240" y="3703320"/>
            <a:ext cx="4434841" cy="777241"/>
          </a:xfrm>
          <a:prstGeom prst="roundRect">
            <a:avLst>
              <a:gd name="adj" fmla="val 9412"/>
            </a:avLst>
          </a:prstGeom>
          <a:solidFill>
            <a:srgbClr val="B33A3A"/>
          </a:solidFill>
          <a:ln w="12700">
            <a:solidFill>
              <a:srgbClr val="B33A3A"/>
            </a:solidFill>
          </a:ln>
        </p:spPr>
        <p:txBody>
          <a:bodyPr lIns="45719" rIns="45719"/>
          <a:lstStyle/>
          <a:p>
            <a:pPr/>
          </a:p>
        </p:txBody>
      </p:sp>
      <p:sp>
        <p:nvSpPr>
          <p:cNvPr id="48" name="Text 21"/>
          <p:cNvSpPr txBox="1"/>
          <p:nvPr/>
        </p:nvSpPr>
        <p:spPr>
          <a:xfrm>
            <a:off x="6537960" y="3861239"/>
            <a:ext cx="43434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300">
                <a:solidFill>
                  <a:srgbClr val="FFFFFF"/>
                </a:solidFill>
              </a:defRPr>
            </a:pPr>
            <a:r>
              <a:t>Privacy Attacks</a:t>
            </a:r>
          </a:p>
          <a:p>
            <a:pPr algn="ctr">
              <a:defRPr b="1" sz="1300">
                <a:solidFill>
                  <a:srgbClr val="FFFFFF"/>
                </a:solidFill>
              </a:defRPr>
            </a:pPr>
            <a:r>
              <a:t>(MIA · IIA · FSI · Backdoor)</a:t>
            </a:r>
          </a:p>
        </p:txBody>
      </p:sp>
      <p:sp>
        <p:nvSpPr>
          <p:cNvPr id="49" name="Text 22"/>
          <p:cNvSpPr txBox="1"/>
          <p:nvPr/>
        </p:nvSpPr>
        <p:spPr>
          <a:xfrm>
            <a:off x="6537960" y="4572044"/>
            <a:ext cx="43434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5B6B82"/>
                </a:solidFill>
              </a:defRPr>
            </a:lvl1pPr>
          </a:lstStyle>
          <a:p>
            <a:pPr/>
            <a:r>
              <a:t>Adversary queries the model to infer enrolled identities</a:t>
            </a:r>
          </a:p>
        </p:txBody>
      </p:sp>
      <p:sp>
        <p:nvSpPr>
          <p:cNvPr id="50" name="Text 23"/>
          <p:cNvSpPr txBox="1"/>
          <p:nvPr/>
        </p:nvSpPr>
        <p:spPr>
          <a:xfrm>
            <a:off x="594360" y="5362247"/>
            <a:ext cx="107899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B2A4A"/>
                </a:solidFill>
              </a:defRPr>
            </a:lvl1pPr>
          </a:lstStyle>
          <a:p>
            <a:pPr/>
            <a:r>
              <a:t>Evaluated via two standard metrics — average accuracy (Ā) and backward transfer (BWT), which quantifies forgetting.</a:t>
            </a:r>
          </a:p>
        </p:txBody>
      </p:sp>
      <p:pic>
        <p:nvPicPr>
          <p:cNvPr id="51"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52" name="Shape 12"/>
          <p:cNvSpPr/>
          <p:nvPr/>
        </p:nvSpPr>
        <p:spPr>
          <a:xfrm>
            <a:off x="2465006" y="2965436"/>
            <a:ext cx="1" cy="256033"/>
          </a:xfrm>
          <a:prstGeom prst="line">
            <a:avLst/>
          </a:prstGeom>
          <a:ln w="19050">
            <a:solidFill>
              <a:srgbClr val="1B2A4A"/>
            </a:solidFill>
            <a:tailEnd type="triangle"/>
          </a:ln>
        </p:spPr>
        <p:txBody>
          <a:bodyPr lIns="45719" rIns="45719"/>
          <a:lstStyle/>
          <a:p>
            <a:pPr/>
          </a:p>
        </p:txBody>
      </p:sp>
      <p:sp>
        <p:nvSpPr>
          <p:cNvPr id="53" name="Shape 12"/>
          <p:cNvSpPr/>
          <p:nvPr/>
        </p:nvSpPr>
        <p:spPr>
          <a:xfrm>
            <a:off x="3787012" y="2965436"/>
            <a:ext cx="1" cy="256033"/>
          </a:xfrm>
          <a:prstGeom prst="line">
            <a:avLst/>
          </a:prstGeom>
          <a:ln w="19050">
            <a:solidFill>
              <a:srgbClr val="1B2A4A"/>
            </a:solidFill>
            <a:tailEnd type="triangle"/>
          </a:ln>
        </p:spPr>
        <p:txBody>
          <a:bodyPr lIns="45719" rIns="45719"/>
          <a:lstStyle/>
          <a:p>
            <a:pPr/>
          </a:p>
        </p:txBody>
      </p:sp>
      <p:sp>
        <p:nvSpPr>
          <p:cNvPr id="54" name="Shape 12"/>
          <p:cNvSpPr/>
          <p:nvPr/>
        </p:nvSpPr>
        <p:spPr>
          <a:xfrm>
            <a:off x="5120640" y="2958084"/>
            <a:ext cx="1" cy="256033"/>
          </a:xfrm>
          <a:prstGeom prst="line">
            <a:avLst/>
          </a:prstGeom>
          <a:ln w="19050">
            <a:solidFill>
              <a:srgbClr val="1B2A4A"/>
            </a:solidFill>
            <a:tailEnd type="triangle"/>
          </a:ln>
        </p:spPr>
        <p:txBody>
          <a:bodyPr lIns="45719" rIns="45719"/>
          <a:lstStyle/>
          <a:p>
            <a:pPr/>
          </a:p>
        </p:txBody>
      </p:sp>
      <p:sp>
        <p:nvSpPr>
          <p:cNvPr id="55" name="Numero diapositiva"/>
          <p:cNvSpPr txBox="1"/>
          <p:nvPr>
            <p:ph type="sldNum" sz="quarter" idx="2"/>
          </p:nvPr>
        </p:nvSpPr>
        <p:spPr>
          <a:xfrm>
            <a:off x="9121267"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57" name="Shape 5"/>
          <p:cNvSpPr/>
          <p:nvPr/>
        </p:nvSpPr>
        <p:spPr>
          <a:xfrm>
            <a:off x="7498080" y="4322882"/>
            <a:ext cx="3931921" cy="868681"/>
          </a:xfrm>
          <a:prstGeom prst="roundRect">
            <a:avLst>
              <a:gd name="adj" fmla="val 8421"/>
            </a:avLst>
          </a:prstGeom>
          <a:solidFill>
            <a:srgbClr val="E7ECF5"/>
          </a:solidFill>
          <a:ln w="12700">
            <a:solidFill>
              <a:srgbClr val="1B2A4A"/>
            </a:solidFill>
          </a:ln>
        </p:spPr>
        <p:txBody>
          <a:bodyPr lIns="45719" rIns="45719"/>
          <a:lstStyle/>
          <a:p>
            <a:pPr/>
          </a:p>
        </p:txBody>
      </p:sp>
      <p:sp>
        <p:nvSpPr>
          <p:cNvPr id="58"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BACKGROUND &amp; RELATED WORK</a:t>
            </a:r>
          </a:p>
        </p:txBody>
      </p:sp>
      <p:sp>
        <p:nvSpPr>
          <p:cNvPr id="59"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Catastrophic Forgetting: Why Naïve Fine-Tuning Fails</a:t>
            </a:r>
          </a:p>
        </p:txBody>
      </p:sp>
      <p:sp>
        <p:nvSpPr>
          <p:cNvPr id="60" name="Text 2"/>
          <p:cNvSpPr txBox="1"/>
          <p:nvPr/>
        </p:nvSpPr>
        <p:spPr>
          <a:xfrm>
            <a:off x="594359" y="1391220"/>
            <a:ext cx="10972801"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1B2A4A"/>
                </a:solidFill>
              </a:defRPr>
            </a:lvl1pPr>
          </a:lstStyle>
          <a:p>
            <a:pPr/>
            <a:r>
              <a:t>Under standard sequential fine-tuning with no protection mechanism, accuracy on each task collapses almost to zero as soon as the next task is learned.</a:t>
            </a:r>
          </a:p>
        </p:txBody>
      </p:sp>
      <p:sp>
        <p:nvSpPr>
          <p:cNvPr id="61" name="Shape 3"/>
          <p:cNvSpPr/>
          <p:nvPr/>
        </p:nvSpPr>
        <p:spPr>
          <a:xfrm>
            <a:off x="7498080" y="2311202"/>
            <a:ext cx="3931921" cy="868681"/>
          </a:xfrm>
          <a:prstGeom prst="roundRect">
            <a:avLst>
              <a:gd name="adj" fmla="val 8421"/>
            </a:avLst>
          </a:prstGeom>
          <a:solidFill>
            <a:srgbClr val="E7ECF5"/>
          </a:solidFill>
          <a:ln w="12700">
            <a:solidFill>
              <a:srgbClr val="1B2A4A"/>
            </a:solidFill>
          </a:ln>
        </p:spPr>
        <p:txBody>
          <a:bodyPr lIns="45719" rIns="45719"/>
          <a:lstStyle/>
          <a:p>
            <a:pPr/>
          </a:p>
        </p:txBody>
      </p:sp>
      <p:sp>
        <p:nvSpPr>
          <p:cNvPr id="62" name="Text 4"/>
          <p:cNvSpPr txBox="1"/>
          <p:nvPr/>
        </p:nvSpPr>
        <p:spPr>
          <a:xfrm>
            <a:off x="7818119" y="2518388"/>
            <a:ext cx="3291841" cy="4543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Regularization - </a:t>
            </a:r>
            <a:r>
              <a:rPr b="0" sz="1100"/>
              <a:t>Penalize drift on important weights </a:t>
            </a:r>
          </a:p>
          <a:p>
            <a:pPr>
              <a:defRPr sz="1100">
                <a:solidFill>
                  <a:srgbClr val="1B2A4A"/>
                </a:solidFill>
              </a:defRPr>
            </a:pPr>
            <a:r>
              <a:t>(</a:t>
            </a:r>
            <a:r>
              <a:rPr b="1" i="1"/>
              <a:t>Knowledge Distillation, LiDER)</a:t>
            </a:r>
          </a:p>
        </p:txBody>
      </p:sp>
      <p:sp>
        <p:nvSpPr>
          <p:cNvPr id="63" name="Shape 5"/>
          <p:cNvSpPr/>
          <p:nvPr/>
        </p:nvSpPr>
        <p:spPr>
          <a:xfrm>
            <a:off x="7498080" y="3317042"/>
            <a:ext cx="3931921" cy="868681"/>
          </a:xfrm>
          <a:prstGeom prst="roundRect">
            <a:avLst>
              <a:gd name="adj" fmla="val 8421"/>
            </a:avLst>
          </a:prstGeom>
          <a:solidFill>
            <a:srgbClr val="E7ECF5"/>
          </a:solidFill>
          <a:ln w="12700">
            <a:solidFill>
              <a:srgbClr val="1B2A4A"/>
            </a:solidFill>
          </a:ln>
        </p:spPr>
        <p:txBody>
          <a:bodyPr lIns="45719" rIns="45719"/>
          <a:lstStyle/>
          <a:p>
            <a:pPr/>
          </a:p>
        </p:txBody>
      </p:sp>
      <p:sp>
        <p:nvSpPr>
          <p:cNvPr id="64" name="Text 6"/>
          <p:cNvSpPr txBox="1"/>
          <p:nvPr/>
        </p:nvSpPr>
        <p:spPr>
          <a:xfrm>
            <a:off x="7818119" y="3441678"/>
            <a:ext cx="3291841" cy="6194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Replay - </a:t>
            </a:r>
            <a:r>
              <a:rPr b="0" sz="1100"/>
              <a:t>Buffer or generative rehearsal of past tasks</a:t>
            </a:r>
          </a:p>
          <a:p>
            <a:pPr>
              <a:defRPr sz="1100">
                <a:solidFill>
                  <a:srgbClr val="1B2A4A"/>
                </a:solidFill>
              </a:defRPr>
            </a:pPr>
            <a:r>
              <a:rPr b="1" i="1"/>
              <a:t>(Standard with 15% Replay, Wavelet Generative Replay) </a:t>
            </a:r>
          </a:p>
        </p:txBody>
      </p:sp>
      <p:sp>
        <p:nvSpPr>
          <p:cNvPr id="65" name="Text 8"/>
          <p:cNvSpPr txBox="1"/>
          <p:nvPr/>
        </p:nvSpPr>
        <p:spPr>
          <a:xfrm>
            <a:off x="7818119" y="4530069"/>
            <a:ext cx="3291841" cy="4543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E2A48"/>
                </a:solidFill>
              </a:defRPr>
            </a:pPr>
            <a:r>
              <a:t>Architectural - </a:t>
            </a:r>
            <a:r>
              <a:rPr b="0" sz="1100"/>
              <a:t>Dedicated per-task parameters</a:t>
            </a:r>
          </a:p>
          <a:p>
            <a:pPr>
              <a:defRPr sz="1100">
                <a:solidFill>
                  <a:srgbClr val="1E2A48"/>
                </a:solidFill>
              </a:defRPr>
            </a:pPr>
            <a:r>
              <a:t>(</a:t>
            </a:r>
            <a:r>
              <a:rPr b="1" i="1"/>
              <a:t>CDML, LoRA)</a:t>
            </a:r>
          </a:p>
        </p:txBody>
      </p:sp>
      <p:sp>
        <p:nvSpPr>
          <p:cNvPr id="66" name="Text 9"/>
          <p:cNvSpPr txBox="1"/>
          <p:nvPr/>
        </p:nvSpPr>
        <p:spPr>
          <a:xfrm>
            <a:off x="594359" y="5590847"/>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i="1" sz="1200">
                <a:solidFill>
                  <a:srgbClr val="1B2A4A"/>
                </a:solidFill>
              </a:defRPr>
            </a:pPr>
            <a:r>
              <a:t>Backward transfer (BWT): −90.2 pp (Task 1) </a:t>
            </a:r>
            <a:r>
              <a:rPr i="0"/>
              <a:t>|</a:t>
            </a:r>
            <a:r>
              <a:t> −93.9 pp (Task 2) </a:t>
            </a:r>
            <a:r>
              <a:rPr i="0"/>
              <a:t>|</a:t>
            </a:r>
            <a:r>
              <a:t> −91.6 pp (Task 3) </a:t>
            </a:r>
            <a:r>
              <a:rPr i="0"/>
              <a:t>|</a:t>
            </a:r>
            <a:r>
              <a:t> Task 4 unaffected, as it is the last task trained.</a:t>
            </a:r>
          </a:p>
        </p:txBody>
      </p:sp>
      <p:pic>
        <p:nvPicPr>
          <p:cNvPr id="67" name="Screenshot 2026-07-22 alle 12.49.11.png" descr="Screenshot 2026-07-22 alle 12.49.11.png"/>
          <p:cNvPicPr>
            <a:picLocks noChangeAspect="1"/>
          </p:cNvPicPr>
          <p:nvPr/>
        </p:nvPicPr>
        <p:blipFill>
          <a:blip r:embed="rId2">
            <a:extLst/>
          </a:blip>
          <a:stretch>
            <a:fillRect/>
          </a:stretch>
        </p:blipFill>
        <p:spPr>
          <a:xfrm>
            <a:off x="646147" y="2160310"/>
            <a:ext cx="6278880" cy="3071780"/>
          </a:xfrm>
          <a:prstGeom prst="rect">
            <a:avLst/>
          </a:prstGeom>
          <a:ln w="12700">
            <a:miter lim="400000"/>
          </a:ln>
        </p:spPr>
      </p:pic>
      <p:pic>
        <p:nvPicPr>
          <p:cNvPr id="68" name="logo-2.png" descr="logo-2.png"/>
          <p:cNvPicPr>
            <a:picLocks noChangeAspect="1"/>
          </p:cNvPicPr>
          <p:nvPr/>
        </p:nvPicPr>
        <p:blipFill>
          <a:blip r:embed="rId3">
            <a:extLst/>
          </a:blip>
          <a:stretch>
            <a:fillRect/>
          </a:stretch>
        </p:blipFill>
        <p:spPr>
          <a:xfrm>
            <a:off x="9928565" y="40834"/>
            <a:ext cx="2211422" cy="547622"/>
          </a:xfrm>
          <a:prstGeom prst="rect">
            <a:avLst/>
          </a:prstGeom>
          <a:ln w="12700">
            <a:miter lim="400000"/>
          </a:ln>
        </p:spPr>
      </p:pic>
      <p:sp>
        <p:nvSpPr>
          <p:cNvPr id="69" name="3 Approaches to mitigate Catastrophic Forgetting"/>
          <p:cNvSpPr txBox="1"/>
          <p:nvPr/>
        </p:nvSpPr>
        <p:spPr>
          <a:xfrm>
            <a:off x="7463474" y="1965896"/>
            <a:ext cx="4183304" cy="25820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pPr>
            <a:r>
              <a:t>3 Approaches </a:t>
            </a:r>
            <a:r>
              <a:rPr>
                <a:solidFill>
                  <a:srgbClr val="1E2A48"/>
                </a:solidFill>
              </a:rPr>
              <a:t>to</a:t>
            </a:r>
            <a:r>
              <a:t> mitigate Catastrophic Forgetting</a:t>
            </a:r>
          </a:p>
        </p:txBody>
      </p:sp>
      <p:sp>
        <p:nvSpPr>
          <p:cNvPr id="70" name="Testo"/>
          <p:cNvSpPr txBox="1"/>
          <p:nvPr/>
        </p:nvSpPr>
        <p:spPr>
          <a:xfrm>
            <a:off x="9121268" y="6260400"/>
            <a:ext cx="2844801" cy="368301"/>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r">
              <a:defRPr sz="1200"/>
            </a:lvl1p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72"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BACKGROUND &amp; RELATED WORK</a:t>
            </a:r>
          </a:p>
        </p:txBody>
      </p:sp>
      <p:sp>
        <p:nvSpPr>
          <p:cNvPr id="73"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Four Privacy Attacks Against Trained Models</a:t>
            </a:r>
          </a:p>
        </p:txBody>
      </p:sp>
      <p:sp>
        <p:nvSpPr>
          <p:cNvPr id="74" name="Shape 2"/>
          <p:cNvSpPr/>
          <p:nvPr/>
        </p:nvSpPr>
        <p:spPr>
          <a:xfrm>
            <a:off x="548640" y="1508760"/>
            <a:ext cx="777241" cy="777241"/>
          </a:xfrm>
          <a:prstGeom prst="ellipse">
            <a:avLst/>
          </a:prstGeom>
          <a:solidFill>
            <a:srgbClr val="B33A3A"/>
          </a:solidFill>
          <a:ln w="12700">
            <a:solidFill>
              <a:srgbClr val="B33A3A"/>
            </a:solidFill>
          </a:ln>
        </p:spPr>
        <p:txBody>
          <a:bodyPr lIns="45719" rIns="45719"/>
          <a:lstStyle/>
          <a:p>
            <a:pPr/>
          </a:p>
        </p:txBody>
      </p:sp>
      <p:sp>
        <p:nvSpPr>
          <p:cNvPr id="75" name="Text 3"/>
          <p:cNvSpPr txBox="1"/>
          <p:nvPr/>
        </p:nvSpPr>
        <p:spPr>
          <a:xfrm>
            <a:off x="594359" y="1773227"/>
            <a:ext cx="685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MIA</a:t>
            </a:r>
          </a:p>
        </p:txBody>
      </p:sp>
      <p:sp>
        <p:nvSpPr>
          <p:cNvPr id="76" name="Text 4"/>
          <p:cNvSpPr txBox="1"/>
          <p:nvPr/>
        </p:nvSpPr>
        <p:spPr>
          <a:xfrm>
            <a:off x="1554479" y="1544627"/>
            <a:ext cx="10012682" cy="7055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600">
                <a:solidFill>
                  <a:srgbClr val="1B2A4A"/>
                </a:solidFill>
              </a:defRPr>
            </a:pPr>
            <a:r>
              <a:t>Membership Inference (MIA)</a:t>
            </a:r>
          </a:p>
          <a:p>
            <a:pPr>
              <a:defRPr sz="1300">
                <a:solidFill>
                  <a:srgbClr val="1B2A4A"/>
                </a:solidFill>
              </a:defRPr>
            </a:pPr>
            <a:r>
              <a:t>Black-box, per-sample — was window x used in training?  ·  AUC, EER</a:t>
            </a:r>
            <a:endParaRPr sz="1600"/>
          </a:p>
          <a:p>
            <a:pPr>
              <a:defRPr i="1" sz="1200">
                <a:solidFill>
                  <a:srgbClr val="5B6B82"/>
                </a:solidFill>
              </a:defRPr>
            </a:pPr>
            <a:r>
              <a:t>score = −L_CE(f(x), y) — exploits the train/test loss gap (≈0.01–0.05 vs ≈0.4–1.5)</a:t>
            </a:r>
          </a:p>
        </p:txBody>
      </p:sp>
      <p:sp>
        <p:nvSpPr>
          <p:cNvPr id="77" name="Shape 5"/>
          <p:cNvSpPr/>
          <p:nvPr/>
        </p:nvSpPr>
        <p:spPr>
          <a:xfrm>
            <a:off x="548640" y="2606039"/>
            <a:ext cx="777241" cy="777241"/>
          </a:xfrm>
          <a:prstGeom prst="ellipse">
            <a:avLst/>
          </a:prstGeom>
          <a:solidFill>
            <a:srgbClr val="B33A3A"/>
          </a:solidFill>
          <a:ln w="12700">
            <a:solidFill>
              <a:srgbClr val="B33A3A"/>
            </a:solidFill>
          </a:ln>
        </p:spPr>
        <p:txBody>
          <a:bodyPr lIns="45719" rIns="45719"/>
          <a:lstStyle/>
          <a:p>
            <a:pPr/>
          </a:p>
        </p:txBody>
      </p:sp>
      <p:sp>
        <p:nvSpPr>
          <p:cNvPr id="78" name="Text 6"/>
          <p:cNvSpPr txBox="1"/>
          <p:nvPr/>
        </p:nvSpPr>
        <p:spPr>
          <a:xfrm>
            <a:off x="594359" y="2870507"/>
            <a:ext cx="685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IIA</a:t>
            </a:r>
          </a:p>
        </p:txBody>
      </p:sp>
      <p:sp>
        <p:nvSpPr>
          <p:cNvPr id="79" name="Text 7"/>
          <p:cNvSpPr txBox="1"/>
          <p:nvPr/>
        </p:nvSpPr>
        <p:spPr>
          <a:xfrm>
            <a:off x="1554479" y="2641907"/>
            <a:ext cx="10012682" cy="7055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600">
                <a:solidFill>
                  <a:srgbClr val="1B2A4A"/>
                </a:solidFill>
              </a:defRPr>
            </a:pPr>
            <a:r>
              <a:t>Identity Inference (IIA)</a:t>
            </a:r>
          </a:p>
          <a:p>
            <a:pPr>
              <a:defRPr sz="1300">
                <a:solidFill>
                  <a:srgbClr val="1B2A4A"/>
                </a:solidFill>
              </a:defRPr>
            </a:pPr>
            <a:r>
              <a:t>Black-box, per-subject — was person s ever enrolled?  ·  AUC, EER</a:t>
            </a:r>
            <a:endParaRPr sz="1600"/>
          </a:p>
          <a:p>
            <a:pPr>
              <a:defRPr i="1" sz="1200">
                <a:solidFill>
                  <a:srgbClr val="5B6B82"/>
                </a:solidFill>
              </a:defRPr>
            </a:pPr>
            <a:r>
              <a:t>Aggregates N=20 query windows per subject; mean CE score thresholded at τ</a:t>
            </a:r>
          </a:p>
        </p:txBody>
      </p:sp>
      <p:sp>
        <p:nvSpPr>
          <p:cNvPr id="80" name="Shape 8"/>
          <p:cNvSpPr/>
          <p:nvPr/>
        </p:nvSpPr>
        <p:spPr>
          <a:xfrm>
            <a:off x="548640" y="3703320"/>
            <a:ext cx="777241" cy="777241"/>
          </a:xfrm>
          <a:prstGeom prst="ellipse">
            <a:avLst/>
          </a:prstGeom>
          <a:solidFill>
            <a:srgbClr val="B33A3A"/>
          </a:solidFill>
          <a:ln w="12700">
            <a:solidFill>
              <a:srgbClr val="B33A3A"/>
            </a:solidFill>
          </a:ln>
        </p:spPr>
        <p:txBody>
          <a:bodyPr lIns="45719" rIns="45719"/>
          <a:lstStyle/>
          <a:p>
            <a:pPr/>
          </a:p>
        </p:txBody>
      </p:sp>
      <p:sp>
        <p:nvSpPr>
          <p:cNvPr id="81" name="Text 9"/>
          <p:cNvSpPr txBox="1"/>
          <p:nvPr/>
        </p:nvSpPr>
        <p:spPr>
          <a:xfrm>
            <a:off x="594359" y="3967787"/>
            <a:ext cx="685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FSI</a:t>
            </a:r>
          </a:p>
        </p:txBody>
      </p:sp>
      <p:sp>
        <p:nvSpPr>
          <p:cNvPr id="82" name="Text 10"/>
          <p:cNvSpPr txBox="1"/>
          <p:nvPr/>
        </p:nvSpPr>
        <p:spPr>
          <a:xfrm>
            <a:off x="1554479" y="3739187"/>
            <a:ext cx="10012682" cy="7055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600">
                <a:solidFill>
                  <a:srgbClr val="1B2A4A"/>
                </a:solidFill>
              </a:defRPr>
            </a:pPr>
            <a:r>
              <a:t>Feature Space Inference (FSI)</a:t>
            </a:r>
          </a:p>
          <a:p>
            <a:pPr>
              <a:defRPr sz="1300">
                <a:solidFill>
                  <a:srgbClr val="1B2A4A"/>
                </a:solidFill>
              </a:defRPr>
            </a:pPr>
            <a:r>
              <a:t>White-box — k-NN probe directly on the embedding layer  ·  AUC, accuracy</a:t>
            </a:r>
            <a:endParaRPr sz="1600"/>
          </a:p>
          <a:p>
            <a:pPr>
              <a:defRPr i="1" sz="1200">
                <a:solidFill>
                  <a:srgbClr val="5B6B82"/>
                </a:solidFill>
              </a:defRPr>
            </a:pPr>
            <a:r>
              <a:t>k-NN (k=5) on raw backbone embeddings h — bypasses the classifier head entirely</a:t>
            </a:r>
          </a:p>
        </p:txBody>
      </p:sp>
      <p:sp>
        <p:nvSpPr>
          <p:cNvPr id="83" name="Shape 11"/>
          <p:cNvSpPr/>
          <p:nvPr/>
        </p:nvSpPr>
        <p:spPr>
          <a:xfrm>
            <a:off x="548640" y="4800600"/>
            <a:ext cx="777241" cy="777241"/>
          </a:xfrm>
          <a:prstGeom prst="ellipse">
            <a:avLst/>
          </a:prstGeom>
          <a:solidFill>
            <a:srgbClr val="C97A2E"/>
          </a:solidFill>
          <a:ln w="12700">
            <a:solidFill>
              <a:srgbClr val="C97A2E"/>
            </a:solidFill>
          </a:ln>
        </p:spPr>
        <p:txBody>
          <a:bodyPr lIns="45719" rIns="45719"/>
          <a:lstStyle/>
          <a:p>
            <a:pPr/>
          </a:p>
        </p:txBody>
      </p:sp>
      <p:sp>
        <p:nvSpPr>
          <p:cNvPr id="84" name="Text 12"/>
          <p:cNvSpPr txBox="1"/>
          <p:nvPr/>
        </p:nvSpPr>
        <p:spPr>
          <a:xfrm>
            <a:off x="594359" y="5065067"/>
            <a:ext cx="685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BD</a:t>
            </a:r>
          </a:p>
        </p:txBody>
      </p:sp>
      <p:sp>
        <p:nvSpPr>
          <p:cNvPr id="85" name="Text 13"/>
          <p:cNvSpPr txBox="1"/>
          <p:nvPr/>
        </p:nvSpPr>
        <p:spPr>
          <a:xfrm>
            <a:off x="1554479" y="4836467"/>
            <a:ext cx="10012682" cy="7055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600">
                <a:solidFill>
                  <a:srgbClr val="1B2A4A"/>
                </a:solidFill>
              </a:defRPr>
            </a:pPr>
            <a:r>
              <a:t>Backdoor Attack</a:t>
            </a:r>
          </a:p>
          <a:p>
            <a:pPr>
              <a:defRPr sz="1300">
                <a:solidFill>
                  <a:srgbClr val="1B2A4A"/>
                </a:solidFill>
              </a:defRPr>
            </a:pPr>
            <a:r>
              <a:t>Training-time — poisons data to implant a trigger → target mapping  ·  ASR, clean accuracy</a:t>
            </a:r>
            <a:endParaRPr sz="1600"/>
          </a:p>
          <a:p>
            <a:pPr>
              <a:defRPr i="1" sz="1200">
                <a:solidFill>
                  <a:srgbClr val="5B6B82"/>
                </a:solidFill>
              </a:defRPr>
            </a:pPr>
            <a:r>
              <a:t>Sinusoidal trigger on 15% of Task 3 windows, relabeled to the target subject of Task 4</a:t>
            </a:r>
          </a:p>
        </p:txBody>
      </p:sp>
      <p:sp>
        <p:nvSpPr>
          <p:cNvPr id="86" name="Shape 14"/>
          <p:cNvSpPr/>
          <p:nvPr/>
        </p:nvSpPr>
        <p:spPr>
          <a:xfrm>
            <a:off x="548640" y="5806440"/>
            <a:ext cx="11064241" cy="777241"/>
          </a:xfrm>
          <a:prstGeom prst="roundRect">
            <a:avLst>
              <a:gd name="adj" fmla="val 9412"/>
            </a:avLst>
          </a:prstGeom>
          <a:solidFill>
            <a:srgbClr val="E7ECF5"/>
          </a:solidFill>
          <a:ln w="12700">
            <a:solidFill>
              <a:srgbClr val="1B2A4A"/>
            </a:solidFill>
          </a:ln>
        </p:spPr>
        <p:txBody>
          <a:bodyPr lIns="45719" rIns="45719"/>
          <a:lstStyle/>
          <a:p>
            <a:pPr/>
          </a:p>
        </p:txBody>
      </p:sp>
      <p:sp>
        <p:nvSpPr>
          <p:cNvPr id="87" name="Text 15"/>
          <p:cNvSpPr txBox="1"/>
          <p:nvPr/>
        </p:nvSpPr>
        <p:spPr>
          <a:xfrm>
            <a:off x="960119" y="5940360"/>
            <a:ext cx="10241282"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B2A4A"/>
                </a:solidFill>
              </a:defRPr>
            </a:lvl1pPr>
          </a:lstStyle>
          <a:p>
            <a:pPr/>
            <a:r>
              <a:t>Each attack is evaluated under two attacker modes: a realistic no-seed / no-adapter attacker, and a worst-case oracle who knows the secret key.</a:t>
            </a:r>
          </a:p>
        </p:txBody>
      </p:sp>
      <p:pic>
        <p:nvPicPr>
          <p:cNvPr id="88"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89"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91"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EXPERIMENTAL SETUP</a:t>
            </a:r>
          </a:p>
        </p:txBody>
      </p:sp>
      <p:sp>
        <p:nvSpPr>
          <p:cNvPr id="92"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Three Datasets, One Protocol</a:t>
            </a:r>
          </a:p>
        </p:txBody>
      </p:sp>
      <p:sp>
        <p:nvSpPr>
          <p:cNvPr id="93" name="Text 2"/>
          <p:cNvSpPr txBox="1"/>
          <p:nvPr/>
        </p:nvSpPr>
        <p:spPr>
          <a:xfrm>
            <a:off x="594359" y="1482659"/>
            <a:ext cx="1097280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1B2A4A"/>
                </a:solidFill>
              </a:defRPr>
            </a:lvl1pPr>
          </a:lstStyle>
          <a:p>
            <a:pPr/>
            <a:r>
              <a:t>All three datasets share the same six-channel IMU structure and the same four-task continual learning split approach.</a:t>
            </a:r>
          </a:p>
        </p:txBody>
      </p:sp>
      <p:graphicFrame>
        <p:nvGraphicFramePr>
          <p:cNvPr id="94" name="Table 0"/>
          <p:cNvGraphicFramePr/>
          <p:nvPr/>
        </p:nvGraphicFramePr>
        <p:xfrm>
          <a:off x="548640" y="2057400"/>
          <a:ext cx="11064241" cy="338328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08960"/>
                <a:gridCol w="2651760"/>
                <a:gridCol w="2651760"/>
                <a:gridCol w="2651760"/>
              </a:tblGrid>
              <a:tr h="483326">
                <a:tc>
                  <a:txBody>
                    <a:bodyPr/>
                    <a:lstStyle/>
                    <a:p>
                      <a:pPr algn="l">
                        <a:defRPr sz="1800"/>
                      </a:pPr>
                      <a:r>
                        <a:rPr b="1" sz="1300">
                          <a:solidFill>
                            <a:srgbClr val="FFFFFF"/>
                          </a:solidFill>
                        </a:rPr>
                        <a:t>Property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WU Gait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UCI HAR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WISDM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83326">
                <a:tc>
                  <a:txBody>
                    <a:bodyPr/>
                    <a:lstStyle/>
                    <a:p>
                      <a:pPr algn="l">
                        <a:defRPr sz="1800"/>
                      </a:pPr>
                      <a:r>
                        <a:rPr b="1" sz="1300">
                          <a:solidFill>
                            <a:srgbClr val="1B2A4A"/>
                          </a:solidFill>
                        </a:rPr>
                        <a:t>Subjects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118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30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83326">
                <a:tc>
                  <a:txBody>
                    <a:bodyPr/>
                    <a:lstStyle/>
                    <a:p>
                      <a:pPr algn="l">
                        <a:defRPr sz="1800"/>
                      </a:pPr>
                      <a:r>
                        <a:rPr b="1" sz="1300">
                          <a:solidFill>
                            <a:srgbClr val="1B2A4A"/>
                          </a:solidFill>
                        </a:rPr>
                        <a:t>Channels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83326">
                <a:tc>
                  <a:txBody>
                    <a:bodyPr/>
                    <a:lstStyle/>
                    <a:p>
                      <a:pPr algn="l">
                        <a:defRPr sz="1800"/>
                      </a:pPr>
                      <a:r>
                        <a:rPr b="1" sz="1300">
                          <a:solidFill>
                            <a:srgbClr val="1B2A4A"/>
                          </a:solidFill>
                        </a:rPr>
                        <a:t>Window size (samples)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128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128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200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83326">
                <a:tc>
                  <a:txBody>
                    <a:bodyPr/>
                    <a:lstStyle/>
                    <a:p>
                      <a:pPr algn="l">
                        <a:defRPr sz="1800"/>
                      </a:pPr>
                      <a:r>
                        <a:rPr b="1" sz="1300">
                          <a:solidFill>
                            <a:srgbClr val="1B2A4A"/>
                          </a:solidFill>
                        </a:rPr>
                        <a:t>Sampling rate</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50 Hz</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50 Hz</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20 Hz</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83326">
                <a:tc>
                  <a:txBody>
                    <a:bodyPr/>
                    <a:lstStyle/>
                    <a:p>
                      <a:pPr algn="l">
                        <a:defRPr sz="1800"/>
                      </a:pPr>
                      <a:r>
                        <a:rPr b="1" sz="1300">
                          <a:solidFill>
                            <a:srgbClr val="1B2A4A"/>
                          </a:solidFill>
                        </a:rPr>
                        <a:t>Window duration</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2.56 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2.56 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10.0 s</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83326">
                <a:tc>
                  <a:txBody>
                    <a:bodyPr/>
                    <a:lstStyle/>
                    <a:p>
                      <a:pPr algn="l">
                        <a:defRPr sz="1800"/>
                      </a:pPr>
                      <a:r>
                        <a:rPr b="1" sz="1300">
                          <a:solidFill>
                            <a:srgbClr val="1B2A4A"/>
                          </a:solidFill>
                        </a:rPr>
                        <a:t>Task splits (T1–T4)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30 / 30 / 30 / 28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8 / 9 / 7 / 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13 / 13 / 13 / 12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bl>
          </a:graphicData>
        </a:graphic>
      </p:graphicFrame>
      <p:sp>
        <p:nvSpPr>
          <p:cNvPr id="95" name="Text 3"/>
          <p:cNvSpPr txBox="1"/>
          <p:nvPr/>
        </p:nvSpPr>
        <p:spPr>
          <a:xfrm>
            <a:off x="594359" y="5768778"/>
            <a:ext cx="1097280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1B2A4A"/>
                </a:solidFill>
              </a:defRPr>
            </a:lvl1pPr>
          </a:lstStyle>
          <a:p>
            <a:pPr/>
            <a:r>
              <a:t>Spans 30–118 subjects, 20–50 Hz, and 128–200-sample windows — testing generality across different deployment conditions.</a:t>
            </a:r>
          </a:p>
        </p:txBody>
      </p:sp>
      <p:pic>
        <p:nvPicPr>
          <p:cNvPr id="96"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97"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99"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EXPERIMENTAL SETUP</a:t>
            </a:r>
          </a:p>
        </p:txBody>
      </p:sp>
      <p:sp>
        <p:nvSpPr>
          <p:cNvPr id="100"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GaitCNN: The Shared Backbone</a:t>
            </a:r>
          </a:p>
        </p:txBody>
      </p:sp>
      <p:sp>
        <p:nvSpPr>
          <p:cNvPr id="101" name="Shape 2"/>
          <p:cNvSpPr/>
          <p:nvPr/>
        </p:nvSpPr>
        <p:spPr>
          <a:xfrm>
            <a:off x="548640" y="1600200"/>
            <a:ext cx="1600201" cy="914400"/>
          </a:xfrm>
          <a:prstGeom prst="roundRect">
            <a:avLst>
              <a:gd name="adj" fmla="val 8000"/>
            </a:avLst>
          </a:prstGeom>
          <a:solidFill>
            <a:srgbClr val="E7ECF5"/>
          </a:solidFill>
          <a:ln w="12700">
            <a:solidFill>
              <a:srgbClr val="E7ECF5"/>
            </a:solidFill>
          </a:ln>
        </p:spPr>
        <p:txBody>
          <a:bodyPr lIns="45719" rIns="45719"/>
          <a:lstStyle/>
          <a:p>
            <a:pPr/>
          </a:p>
        </p:txBody>
      </p:sp>
      <p:sp>
        <p:nvSpPr>
          <p:cNvPr id="102" name="Text 3"/>
          <p:cNvSpPr txBox="1"/>
          <p:nvPr/>
        </p:nvSpPr>
        <p:spPr>
          <a:xfrm>
            <a:off x="594359" y="1837997"/>
            <a:ext cx="1508762"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1B2A4A"/>
                </a:solidFill>
              </a:defRPr>
            </a:pPr>
            <a:r>
              <a:t>Input</a:t>
            </a:r>
          </a:p>
          <a:p>
            <a:pPr algn="ctr">
              <a:defRPr b="1" sz="1200">
                <a:solidFill>
                  <a:srgbClr val="1B2A4A"/>
                </a:solidFill>
              </a:defRPr>
            </a:pPr>
            <a:r>
              <a:t>6×128 or 6×200</a:t>
            </a:r>
          </a:p>
        </p:txBody>
      </p:sp>
      <p:sp>
        <p:nvSpPr>
          <p:cNvPr id="103" name="Shape 4"/>
          <p:cNvSpPr/>
          <p:nvPr/>
        </p:nvSpPr>
        <p:spPr>
          <a:xfrm>
            <a:off x="2148839" y="2057400"/>
            <a:ext cx="274321" cy="0"/>
          </a:xfrm>
          <a:prstGeom prst="line">
            <a:avLst/>
          </a:prstGeom>
          <a:ln w="19050">
            <a:solidFill>
              <a:srgbClr val="1B2A4A"/>
            </a:solidFill>
            <a:tailEnd type="triangle"/>
          </a:ln>
        </p:spPr>
        <p:txBody>
          <a:bodyPr lIns="45719" rIns="45719"/>
          <a:lstStyle/>
          <a:p>
            <a:pPr/>
          </a:p>
        </p:txBody>
      </p:sp>
      <p:sp>
        <p:nvSpPr>
          <p:cNvPr id="104" name="Shape 5"/>
          <p:cNvSpPr/>
          <p:nvPr/>
        </p:nvSpPr>
        <p:spPr>
          <a:xfrm>
            <a:off x="2423160" y="1600200"/>
            <a:ext cx="1600201" cy="914400"/>
          </a:xfrm>
          <a:prstGeom prst="roundRect">
            <a:avLst>
              <a:gd name="adj" fmla="val 8000"/>
            </a:avLst>
          </a:prstGeom>
          <a:solidFill>
            <a:srgbClr val="0A6E8C"/>
          </a:solidFill>
          <a:ln w="12700">
            <a:solidFill>
              <a:srgbClr val="0A6E8C"/>
            </a:solidFill>
          </a:ln>
        </p:spPr>
        <p:txBody>
          <a:bodyPr lIns="45719" rIns="45719"/>
          <a:lstStyle/>
          <a:p>
            <a:pPr/>
          </a:p>
        </p:txBody>
      </p:sp>
      <p:sp>
        <p:nvSpPr>
          <p:cNvPr id="105" name="Text 6"/>
          <p:cNvSpPr txBox="1"/>
          <p:nvPr/>
        </p:nvSpPr>
        <p:spPr>
          <a:xfrm>
            <a:off x="2468880" y="1837997"/>
            <a:ext cx="1508761"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FFFFFF"/>
                </a:solidFill>
              </a:defRPr>
            </a:pPr>
            <a:r>
              <a:t>4× ConvBlocks</a:t>
            </a:r>
          </a:p>
          <a:p>
            <a:pPr algn="ctr">
              <a:defRPr b="1" sz="1200">
                <a:solidFill>
                  <a:srgbClr val="FFFFFF"/>
                </a:solidFill>
              </a:defRPr>
            </a:pPr>
            <a:r>
              <a:t>32→64→128→128f</a:t>
            </a:r>
          </a:p>
        </p:txBody>
      </p:sp>
      <p:sp>
        <p:nvSpPr>
          <p:cNvPr id="106" name="Shape 7"/>
          <p:cNvSpPr/>
          <p:nvPr/>
        </p:nvSpPr>
        <p:spPr>
          <a:xfrm>
            <a:off x="4023359" y="2057400"/>
            <a:ext cx="274321" cy="0"/>
          </a:xfrm>
          <a:prstGeom prst="line">
            <a:avLst/>
          </a:prstGeom>
          <a:ln w="19050">
            <a:solidFill>
              <a:srgbClr val="1B2A4A"/>
            </a:solidFill>
            <a:tailEnd type="triangle"/>
          </a:ln>
        </p:spPr>
        <p:txBody>
          <a:bodyPr lIns="45719" rIns="45719"/>
          <a:lstStyle/>
          <a:p>
            <a:pPr/>
          </a:p>
        </p:txBody>
      </p:sp>
      <p:sp>
        <p:nvSpPr>
          <p:cNvPr id="107" name="Shape 8"/>
          <p:cNvSpPr/>
          <p:nvPr/>
        </p:nvSpPr>
        <p:spPr>
          <a:xfrm>
            <a:off x="4297679" y="1600200"/>
            <a:ext cx="1600201" cy="914400"/>
          </a:xfrm>
          <a:prstGeom prst="roundRect">
            <a:avLst>
              <a:gd name="adj" fmla="val 8000"/>
            </a:avLst>
          </a:prstGeom>
          <a:solidFill>
            <a:srgbClr val="0A6E8C"/>
          </a:solidFill>
          <a:ln w="12700">
            <a:solidFill>
              <a:srgbClr val="0A6E8C"/>
            </a:solidFill>
          </a:ln>
        </p:spPr>
        <p:txBody>
          <a:bodyPr lIns="45719" rIns="45719"/>
          <a:lstStyle/>
          <a:p>
            <a:pPr/>
          </a:p>
        </p:txBody>
      </p:sp>
      <p:sp>
        <p:nvSpPr>
          <p:cNvPr id="108" name="Text 9"/>
          <p:cNvSpPr txBox="1"/>
          <p:nvPr/>
        </p:nvSpPr>
        <p:spPr>
          <a:xfrm>
            <a:off x="4343400" y="1837997"/>
            <a:ext cx="1508761"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FFFFFF"/>
                </a:solidFill>
              </a:defRPr>
            </a:pPr>
            <a:r>
              <a:t>Flatten → FC</a:t>
            </a:r>
          </a:p>
          <a:p>
            <a:pPr algn="ctr">
              <a:defRPr b="1" sz="1200">
                <a:solidFill>
                  <a:srgbClr val="FFFFFF"/>
                </a:solidFill>
              </a:defRPr>
            </a:pPr>
            <a:r>
              <a:t>1024 → 128</a:t>
            </a:r>
          </a:p>
        </p:txBody>
      </p:sp>
      <p:sp>
        <p:nvSpPr>
          <p:cNvPr id="109" name="Shape 10"/>
          <p:cNvSpPr/>
          <p:nvPr/>
        </p:nvSpPr>
        <p:spPr>
          <a:xfrm>
            <a:off x="5897879" y="2057400"/>
            <a:ext cx="274321" cy="0"/>
          </a:xfrm>
          <a:prstGeom prst="line">
            <a:avLst/>
          </a:prstGeom>
          <a:ln w="19050">
            <a:solidFill>
              <a:srgbClr val="1B2A4A"/>
            </a:solidFill>
            <a:tailEnd type="triangle"/>
          </a:ln>
        </p:spPr>
        <p:txBody>
          <a:bodyPr lIns="45719" rIns="45719"/>
          <a:lstStyle/>
          <a:p>
            <a:pPr/>
          </a:p>
        </p:txBody>
      </p:sp>
      <p:sp>
        <p:nvSpPr>
          <p:cNvPr id="110" name="Shape 11"/>
          <p:cNvSpPr/>
          <p:nvPr/>
        </p:nvSpPr>
        <p:spPr>
          <a:xfrm>
            <a:off x="6172200" y="1600200"/>
            <a:ext cx="1600200" cy="914400"/>
          </a:xfrm>
          <a:prstGeom prst="roundRect">
            <a:avLst>
              <a:gd name="adj" fmla="val 8000"/>
            </a:avLst>
          </a:prstGeom>
          <a:solidFill>
            <a:srgbClr val="C97A2E"/>
          </a:solidFill>
          <a:ln w="12700">
            <a:solidFill>
              <a:srgbClr val="C97A2E"/>
            </a:solidFill>
          </a:ln>
        </p:spPr>
        <p:txBody>
          <a:bodyPr lIns="45719" rIns="45719"/>
          <a:lstStyle/>
          <a:p>
            <a:pPr/>
          </a:p>
        </p:txBody>
      </p:sp>
      <p:sp>
        <p:nvSpPr>
          <p:cNvPr id="111" name="Text 12"/>
          <p:cNvSpPr txBox="1"/>
          <p:nvPr/>
        </p:nvSpPr>
        <p:spPr>
          <a:xfrm>
            <a:off x="6217920" y="1826450"/>
            <a:ext cx="1508761" cy="4619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FFFFFF"/>
                </a:solidFill>
              </a:defRPr>
            </a:pPr>
            <a:r>
              <a:t>Embedding h</a:t>
            </a:r>
          </a:p>
          <a:p>
            <a:pPr algn="ctr">
              <a:defRPr b="1" sz="1200">
                <a:solidFill>
                  <a:srgbClr val="FFFFFF"/>
                </a:solidFill>
              </a:defRPr>
            </a:pPr>
            <a:r>
              <a:t>ℝ¹²⁸</a:t>
            </a:r>
          </a:p>
        </p:txBody>
      </p:sp>
      <p:sp>
        <p:nvSpPr>
          <p:cNvPr id="112" name="Shape 13"/>
          <p:cNvSpPr/>
          <p:nvPr/>
        </p:nvSpPr>
        <p:spPr>
          <a:xfrm>
            <a:off x="7772400" y="2057400"/>
            <a:ext cx="274321" cy="0"/>
          </a:xfrm>
          <a:prstGeom prst="line">
            <a:avLst/>
          </a:prstGeom>
          <a:ln w="19050">
            <a:solidFill>
              <a:srgbClr val="1C7293"/>
            </a:solidFill>
            <a:prstDash val="dash"/>
            <a:tailEnd type="triangle"/>
          </a:ln>
        </p:spPr>
        <p:txBody>
          <a:bodyPr lIns="45719" rIns="45719"/>
          <a:lstStyle/>
          <a:p>
            <a:pPr/>
          </a:p>
        </p:txBody>
      </p:sp>
      <p:sp>
        <p:nvSpPr>
          <p:cNvPr id="113" name="Shape 14"/>
          <p:cNvSpPr/>
          <p:nvPr/>
        </p:nvSpPr>
        <p:spPr>
          <a:xfrm>
            <a:off x="8046719" y="1600200"/>
            <a:ext cx="1600201" cy="914400"/>
          </a:xfrm>
          <a:prstGeom prst="roundRect">
            <a:avLst>
              <a:gd name="adj" fmla="val 8000"/>
            </a:avLst>
          </a:prstGeom>
          <a:solidFill>
            <a:srgbClr val="F5F8FC"/>
          </a:solidFill>
          <a:ln w="19050">
            <a:solidFill>
              <a:srgbClr val="1C7293"/>
            </a:solidFill>
            <a:prstDash val="dash"/>
          </a:ln>
        </p:spPr>
        <p:txBody>
          <a:bodyPr lIns="45719" rIns="45719"/>
          <a:lstStyle/>
          <a:p>
            <a:pPr/>
          </a:p>
        </p:txBody>
      </p:sp>
      <p:sp>
        <p:nvSpPr>
          <p:cNvPr id="114" name="Text 15"/>
          <p:cNvSpPr txBox="1"/>
          <p:nvPr/>
        </p:nvSpPr>
        <p:spPr>
          <a:xfrm>
            <a:off x="8092439" y="1818882"/>
            <a:ext cx="1508761" cy="47703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1C7293"/>
                </a:solidFill>
              </a:defRPr>
            </a:pPr>
            <a:r>
              <a:t>CDML (optional)</a:t>
            </a:r>
          </a:p>
          <a:p>
            <a:pPr algn="ctr">
              <a:defRPr b="1" sz="1300">
                <a:solidFill>
                  <a:srgbClr val="1C7293"/>
                </a:solidFill>
              </a:defRPr>
            </a:pPr>
            <a:r>
              <a:t>h ⊙ sₖ</a:t>
            </a:r>
          </a:p>
        </p:txBody>
      </p:sp>
      <p:sp>
        <p:nvSpPr>
          <p:cNvPr id="115" name="Shape 16"/>
          <p:cNvSpPr/>
          <p:nvPr/>
        </p:nvSpPr>
        <p:spPr>
          <a:xfrm>
            <a:off x="9646919" y="2057400"/>
            <a:ext cx="274321" cy="0"/>
          </a:xfrm>
          <a:prstGeom prst="line">
            <a:avLst/>
          </a:prstGeom>
          <a:ln w="19050">
            <a:solidFill>
              <a:srgbClr val="1C7293"/>
            </a:solidFill>
            <a:prstDash val="dash"/>
            <a:tailEnd type="triangle"/>
          </a:ln>
        </p:spPr>
        <p:txBody>
          <a:bodyPr lIns="45719" rIns="45719"/>
          <a:lstStyle/>
          <a:p>
            <a:pPr/>
          </a:p>
        </p:txBody>
      </p:sp>
      <p:sp>
        <p:nvSpPr>
          <p:cNvPr id="116" name="Shape 17"/>
          <p:cNvSpPr/>
          <p:nvPr/>
        </p:nvSpPr>
        <p:spPr>
          <a:xfrm>
            <a:off x="9921240" y="1600200"/>
            <a:ext cx="1600201" cy="914400"/>
          </a:xfrm>
          <a:prstGeom prst="roundRect">
            <a:avLst>
              <a:gd name="adj" fmla="val 8000"/>
            </a:avLst>
          </a:prstGeom>
          <a:solidFill>
            <a:srgbClr val="1B2A4A"/>
          </a:solidFill>
          <a:ln w="12700">
            <a:solidFill>
              <a:srgbClr val="1B2A4A"/>
            </a:solidFill>
          </a:ln>
        </p:spPr>
        <p:txBody>
          <a:bodyPr lIns="45719" rIns="45719"/>
          <a:lstStyle/>
          <a:p>
            <a:pPr/>
          </a:p>
        </p:txBody>
      </p:sp>
      <p:sp>
        <p:nvSpPr>
          <p:cNvPr id="117" name="Text 18"/>
          <p:cNvSpPr txBox="1"/>
          <p:nvPr/>
        </p:nvSpPr>
        <p:spPr>
          <a:xfrm>
            <a:off x="9966959" y="1837997"/>
            <a:ext cx="1508761"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200">
                <a:solidFill>
                  <a:srgbClr val="FFFFFF"/>
                </a:solidFill>
              </a:defRPr>
            </a:pPr>
            <a:r>
              <a:t>Classifier</a:t>
            </a:r>
          </a:p>
          <a:p>
            <a:pPr algn="ctr">
              <a:defRPr b="1" sz="1200">
                <a:solidFill>
                  <a:srgbClr val="FFFFFF"/>
                </a:solidFill>
              </a:defRPr>
            </a:pPr>
            <a:r>
              <a:t>FC → n → ŷ</a:t>
            </a:r>
          </a:p>
        </p:txBody>
      </p:sp>
      <p:sp>
        <p:nvSpPr>
          <p:cNvPr id="118" name="Text 19"/>
          <p:cNvSpPr txBox="1"/>
          <p:nvPr/>
        </p:nvSpPr>
        <p:spPr>
          <a:xfrm>
            <a:off x="594359" y="2916227"/>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5B6B82"/>
                </a:solidFill>
              </a:defRPr>
            </a:lvl1pPr>
          </a:lstStyle>
          <a:p>
            <a:pPr/>
            <a:r>
              <a:t>Single-task upper bound (100 training epochs, no continual constraint):</a:t>
            </a:r>
          </a:p>
        </p:txBody>
      </p:sp>
      <p:sp>
        <p:nvSpPr>
          <p:cNvPr id="119" name="Text 20"/>
          <p:cNvSpPr txBox="1"/>
          <p:nvPr/>
        </p:nvSpPr>
        <p:spPr>
          <a:xfrm>
            <a:off x="594360" y="3369310"/>
            <a:ext cx="3291840" cy="713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4200">
                <a:solidFill>
                  <a:srgbClr val="1C7293"/>
                </a:solidFill>
                <a:latin typeface="Cambria"/>
                <a:ea typeface="Cambria"/>
                <a:cs typeface="Cambria"/>
                <a:sym typeface="Cambria"/>
              </a:defRPr>
            </a:lvl1pPr>
          </a:lstStyle>
          <a:p>
            <a:pPr/>
            <a:r>
              <a:t>92.1%</a:t>
            </a:r>
          </a:p>
        </p:txBody>
      </p:sp>
      <p:sp>
        <p:nvSpPr>
          <p:cNvPr id="120" name="Text 21"/>
          <p:cNvSpPr txBox="1"/>
          <p:nvPr/>
        </p:nvSpPr>
        <p:spPr>
          <a:xfrm>
            <a:off x="594360" y="4219247"/>
            <a:ext cx="329184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5B6B82"/>
                </a:solidFill>
              </a:defRPr>
            </a:lvl1pPr>
          </a:lstStyle>
          <a:p>
            <a:pPr/>
            <a:r>
              <a:t>WU Gait  ·  chance 0.85%</a:t>
            </a:r>
          </a:p>
        </p:txBody>
      </p:sp>
      <p:sp>
        <p:nvSpPr>
          <p:cNvPr id="121" name="Text 22"/>
          <p:cNvSpPr txBox="1"/>
          <p:nvPr/>
        </p:nvSpPr>
        <p:spPr>
          <a:xfrm>
            <a:off x="4434840" y="3369310"/>
            <a:ext cx="3291840" cy="713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4200">
                <a:solidFill>
                  <a:srgbClr val="1B2A4A"/>
                </a:solidFill>
                <a:latin typeface="Cambria"/>
                <a:ea typeface="Cambria"/>
                <a:cs typeface="Cambria"/>
                <a:sym typeface="Cambria"/>
              </a:defRPr>
            </a:lvl1pPr>
          </a:lstStyle>
          <a:p>
            <a:pPr/>
            <a:r>
              <a:t>95.1%</a:t>
            </a:r>
          </a:p>
        </p:txBody>
      </p:sp>
      <p:sp>
        <p:nvSpPr>
          <p:cNvPr id="122" name="Text 23"/>
          <p:cNvSpPr txBox="1"/>
          <p:nvPr/>
        </p:nvSpPr>
        <p:spPr>
          <a:xfrm>
            <a:off x="4434840" y="4219247"/>
            <a:ext cx="329184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5B6B82"/>
                </a:solidFill>
              </a:defRPr>
            </a:lvl1pPr>
          </a:lstStyle>
          <a:p>
            <a:pPr/>
            <a:r>
              <a:t>UCI HAR  ·  chance 3.33%</a:t>
            </a:r>
          </a:p>
        </p:txBody>
      </p:sp>
      <p:sp>
        <p:nvSpPr>
          <p:cNvPr id="123" name="Text 24"/>
          <p:cNvSpPr txBox="1"/>
          <p:nvPr/>
        </p:nvSpPr>
        <p:spPr>
          <a:xfrm>
            <a:off x="8275319" y="3369310"/>
            <a:ext cx="3291841" cy="713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4200">
                <a:solidFill>
                  <a:srgbClr val="0A6E8C"/>
                </a:solidFill>
                <a:latin typeface="Cambria"/>
                <a:ea typeface="Cambria"/>
                <a:cs typeface="Cambria"/>
                <a:sym typeface="Cambria"/>
              </a:defRPr>
            </a:lvl1pPr>
          </a:lstStyle>
          <a:p>
            <a:pPr/>
            <a:r>
              <a:t>96.6%</a:t>
            </a:r>
          </a:p>
        </p:txBody>
      </p:sp>
      <p:sp>
        <p:nvSpPr>
          <p:cNvPr id="124" name="Text 25"/>
          <p:cNvSpPr txBox="1"/>
          <p:nvPr/>
        </p:nvSpPr>
        <p:spPr>
          <a:xfrm>
            <a:off x="8275319" y="4219247"/>
            <a:ext cx="32918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5B6B82"/>
                </a:solidFill>
              </a:defRPr>
            </a:lvl1pPr>
          </a:lstStyle>
          <a:p>
            <a:pPr/>
            <a:r>
              <a:t>WISDM  ·  chance 1.96%</a:t>
            </a:r>
          </a:p>
        </p:txBody>
      </p:sp>
      <p:sp>
        <p:nvSpPr>
          <p:cNvPr id="125" name="Text 26"/>
          <p:cNvSpPr txBox="1"/>
          <p:nvPr/>
        </p:nvSpPr>
        <p:spPr>
          <a:xfrm>
            <a:off x="594359" y="4877239"/>
            <a:ext cx="1097280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1B2A4A"/>
                </a:solidFill>
              </a:defRPr>
            </a:lvl1pPr>
          </a:lstStyle>
          <a:p>
            <a:pPr/>
            <a:r>
              <a:t>Confirms sufficient model capacity on all three datasets before the continual-learning constraint is introduced.</a:t>
            </a:r>
          </a:p>
        </p:txBody>
      </p:sp>
      <p:pic>
        <p:nvPicPr>
          <p:cNvPr id="126"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127"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129"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CODE DIVISION MODULATION LAYERS (CDML)</a:t>
            </a:r>
          </a:p>
        </p:txBody>
      </p:sp>
      <p:sp>
        <p:nvSpPr>
          <p:cNvPr id="130"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CDML Cuts Forgetting at the price of 4 Bytes per Task</a:t>
            </a:r>
          </a:p>
        </p:txBody>
      </p:sp>
      <p:sp>
        <p:nvSpPr>
          <p:cNvPr id="131" name="Text 2"/>
          <p:cNvSpPr txBox="1"/>
          <p:nvPr/>
        </p:nvSpPr>
        <p:spPr>
          <a:xfrm>
            <a:off x="594359" y="1401052"/>
            <a:ext cx="10972801" cy="48973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The embedding is multiplied by a task-specific ±1 sequence, m = sₖ ⊙ h. Sequences are near-orthogonal (cosine similarity ≈ 0), so tasks occupy separate regions of the embedding space.</a:t>
            </a:r>
          </a:p>
        </p:txBody>
      </p:sp>
      <p:graphicFrame>
        <p:nvGraphicFramePr>
          <p:cNvPr id="132" name="Table 0"/>
          <p:cNvGraphicFramePr/>
          <p:nvPr/>
        </p:nvGraphicFramePr>
        <p:xfrm>
          <a:off x="548640" y="1988820"/>
          <a:ext cx="6949441" cy="201168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03120"/>
                <a:gridCol w="1371600"/>
                <a:gridCol w="1371600"/>
                <a:gridCol w="1463040"/>
                <a:gridCol w="640080"/>
              </a:tblGrid>
              <a:tr h="502919">
                <a:tc>
                  <a:txBody>
                    <a:bodyPr/>
                    <a:lstStyle/>
                    <a:p>
                      <a:pPr algn="l">
                        <a:defRPr sz="1800"/>
                      </a:pPr>
                      <a:r>
                        <a:rPr b="1" sz="1300">
                          <a:solidFill>
                            <a:srgbClr val="FFFFFF"/>
                          </a:solidFill>
                        </a:rPr>
                        <a:t>Method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Peak acc. T1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Final acc. T1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Forgetting (Δ)</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Bytes / task</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502919">
                <a:tc>
                  <a:txBody>
                    <a:bodyPr/>
                    <a:lstStyle/>
                    <a:p>
                      <a:pPr algn="l">
                        <a:defRPr sz="1800"/>
                      </a:pPr>
                      <a:r>
                        <a:rPr b="1" sz="1300">
                          <a:solidFill>
                            <a:srgbClr val="1B2A4A"/>
                          </a:solidFill>
                        </a:rPr>
                        <a:t>Std (0% replay)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90.2%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−90.2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 B</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502919">
                <a:tc>
                  <a:txBody>
                    <a:bodyPr/>
                    <a:lstStyle/>
                    <a:p>
                      <a:pPr algn="l">
                        <a:defRPr sz="1800"/>
                      </a:pPr>
                      <a:r>
                        <a:rPr b="1" sz="1300">
                          <a:solidFill>
                            <a:srgbClr val="1B2A4A"/>
                          </a:solidFill>
                        </a:rPr>
                        <a:t>Adapt (FiLM)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89.2%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89.2%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0.0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1024 B</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502919">
                <a:tc>
                  <a:txBody>
                    <a:bodyPr/>
                    <a:lstStyle/>
                    <a:p>
                      <a:pPr algn="l">
                        <a:defRPr sz="1800"/>
                      </a:pPr>
                      <a:r>
                        <a:rPr b="1" sz="1300">
                          <a:solidFill>
                            <a:srgbClr val="FFFFFF"/>
                          </a:solidFill>
                        </a:rPr>
                        <a:t>CDML (0% replay)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89.8%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48.1%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−41.7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4 B</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r>
            </a:tbl>
          </a:graphicData>
        </a:graphic>
      </p:graphicFrame>
      <p:pic>
        <p:nvPicPr>
          <p:cNvPr id="133"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pic>
        <p:nvPicPr>
          <p:cNvPr id="134" name="Screenshot 2026-07-23 alle 12.08.11.png" descr="Screenshot 2026-07-23 alle 12.08.11.png"/>
          <p:cNvPicPr>
            <a:picLocks noChangeAspect="1"/>
          </p:cNvPicPr>
          <p:nvPr/>
        </p:nvPicPr>
        <p:blipFill>
          <a:blip r:embed="rId3">
            <a:extLst/>
          </a:blip>
          <a:stretch>
            <a:fillRect/>
          </a:stretch>
        </p:blipFill>
        <p:spPr>
          <a:xfrm>
            <a:off x="2293441" y="4211072"/>
            <a:ext cx="7799473" cy="2021206"/>
          </a:xfrm>
          <a:prstGeom prst="rect">
            <a:avLst/>
          </a:prstGeom>
          <a:ln w="12700">
            <a:miter lim="400000"/>
          </a:ln>
        </p:spPr>
      </p:pic>
      <p:sp>
        <p:nvSpPr>
          <p:cNvPr id="135" name="Text 7"/>
          <p:cNvSpPr txBox="1"/>
          <p:nvPr/>
        </p:nvSpPr>
        <p:spPr>
          <a:xfrm>
            <a:off x="609599" y="6236588"/>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1B2A4A"/>
                </a:solidFill>
              </a:defRPr>
            </a:lvl1pPr>
          </a:lstStyle>
          <a:p>
            <a:pPr/>
            <a:r>
              <a:t>t-SNE projections confirm CDML spreads the four task clusters more uniformly across the embedding space than Std or Adapt — visual evidence of the orthogonal modulation at work.</a:t>
            </a:r>
          </a:p>
        </p:txBody>
      </p:sp>
      <p:sp>
        <p:nvSpPr>
          <p:cNvPr id="136" name="Shape 3"/>
          <p:cNvSpPr/>
          <p:nvPr/>
        </p:nvSpPr>
        <p:spPr>
          <a:xfrm>
            <a:off x="7923565" y="1988820"/>
            <a:ext cx="3840481" cy="2011680"/>
          </a:xfrm>
          <a:prstGeom prst="roundRect">
            <a:avLst>
              <a:gd name="adj" fmla="val 4545"/>
            </a:avLst>
          </a:prstGeom>
          <a:solidFill>
            <a:srgbClr val="E7ECF5"/>
          </a:solidFill>
          <a:ln w="12700">
            <a:solidFill>
              <a:srgbClr val="1B2A4A"/>
            </a:solidFill>
          </a:ln>
        </p:spPr>
        <p:txBody>
          <a:bodyPr lIns="45719" rIns="45719"/>
          <a:lstStyle/>
          <a:p>
            <a:pPr/>
          </a:p>
        </p:txBody>
      </p:sp>
      <p:sp>
        <p:nvSpPr>
          <p:cNvPr id="137" name="Text 4"/>
          <p:cNvSpPr txBox="1"/>
          <p:nvPr/>
        </p:nvSpPr>
        <p:spPr>
          <a:xfrm>
            <a:off x="8152165" y="2073656"/>
            <a:ext cx="3383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1B2A4A"/>
                </a:solidFill>
                <a:latin typeface="Cambria"/>
                <a:ea typeface="Cambria"/>
                <a:cs typeface="Cambria"/>
                <a:sym typeface="Cambria"/>
              </a:defRPr>
            </a:lvl1pPr>
          </a:lstStyle>
          <a:p>
            <a:pPr/>
            <a:r>
              <a:t>Sequence Design</a:t>
            </a:r>
          </a:p>
        </p:txBody>
      </p:sp>
      <p:sp>
        <p:nvSpPr>
          <p:cNvPr id="138" name="Text 5"/>
          <p:cNvSpPr txBox="1"/>
          <p:nvPr/>
        </p:nvSpPr>
        <p:spPr>
          <a:xfrm>
            <a:off x="8152165" y="2354579"/>
            <a:ext cx="3383281" cy="37402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900">
                <a:solidFill>
                  <a:srgbClr val="1B2A4A"/>
                </a:solidFill>
              </a:defRPr>
            </a:pPr>
            <a:r>
              <a:t>PCG-64 uniform sampling, threshold 0.5 → ±1</a:t>
            </a:r>
          </a:p>
          <a:p>
            <a:pPr>
              <a:defRPr sz="900">
                <a:solidFill>
                  <a:srgbClr val="1B2A4A"/>
                </a:solidFill>
              </a:defRPr>
            </a:pPr>
            <a:r>
              <a:t>Seed schedule: σₖ = 1000 + (k−1)</a:t>
            </a:r>
          </a:p>
        </p:txBody>
      </p:sp>
      <p:graphicFrame>
        <p:nvGraphicFramePr>
          <p:cNvPr id="139" name="Table 1"/>
          <p:cNvGraphicFramePr/>
          <p:nvPr/>
        </p:nvGraphicFramePr>
        <p:xfrm>
          <a:off x="8106446" y="2848355"/>
          <a:ext cx="3474721" cy="86868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77240"/>
                <a:gridCol w="674370"/>
                <a:gridCol w="674370"/>
                <a:gridCol w="674370"/>
                <a:gridCol w="674370"/>
              </a:tblGrid>
              <a:tr h="173736">
                <a:tc>
                  <a:txBody>
                    <a:bodyPr/>
                    <a:lstStyle/>
                    <a:p>
                      <a:pPr algn="ctr">
                        <a:defRPr sz="1800"/>
                      </a:pPr>
                      <a:r>
                        <a:rPr b="1" sz="800">
                          <a:solidFill>
                            <a:srgbClr val="FFFFFF"/>
                          </a:solidFill>
                        </a:rPr>
                        <a:t>ρ</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b="1" sz="800">
                          <a:solidFill>
                            <a:srgbClr val="FFFFFF"/>
                          </a:solidFill>
                        </a:rPr>
                        <a:t>s₁</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b="1" sz="800">
                          <a:solidFill>
                            <a:srgbClr val="FFFFFF"/>
                          </a:solidFill>
                        </a:rPr>
                        <a:t>s₂</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b="1" sz="800">
                          <a:solidFill>
                            <a:srgbClr val="FFFFFF"/>
                          </a:solidFill>
                        </a:rPr>
                        <a:t>s₃</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b="1" sz="800">
                          <a:solidFill>
                            <a:srgbClr val="FFFFFF"/>
                          </a:solidFill>
                        </a:rPr>
                        <a:t>s₄</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r>
              <a:tr h="173736">
                <a:tc>
                  <a:txBody>
                    <a:bodyPr/>
                    <a:lstStyle/>
                    <a:p>
                      <a:pPr algn="ctr">
                        <a:defRPr sz="1800"/>
                      </a:pPr>
                      <a:r>
                        <a:rPr b="1" sz="800">
                          <a:solidFill>
                            <a:srgbClr val="1B2A4A"/>
                          </a:solidFill>
                        </a:rPr>
                        <a:t>s₁</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sz="800">
                          <a:solidFill>
                            <a:srgbClr val="1B2A4A"/>
                          </a:solidFill>
                        </a:rPr>
                        <a:t>1.000</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0.031</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0.109</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−0.063</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r>
              <a:tr h="173736">
                <a:tc>
                  <a:txBody>
                    <a:bodyPr/>
                    <a:lstStyle/>
                    <a:p>
                      <a:pPr algn="ctr">
                        <a:defRPr sz="1800"/>
                      </a:pPr>
                      <a:r>
                        <a:rPr b="1" sz="800">
                          <a:solidFill>
                            <a:srgbClr val="1B2A4A"/>
                          </a:solidFill>
                        </a:rPr>
                        <a:t>s₂</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sz="800">
                          <a:solidFill>
                            <a:srgbClr val="1B2A4A"/>
                          </a:solidFill>
                        </a:rPr>
                        <a:t>0.031</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1.000</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−0.047</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0.031</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r>
              <a:tr h="173736">
                <a:tc>
                  <a:txBody>
                    <a:bodyPr/>
                    <a:lstStyle/>
                    <a:p>
                      <a:pPr algn="ctr">
                        <a:defRPr sz="1800"/>
                      </a:pPr>
                      <a:r>
                        <a:rPr b="1" sz="800">
                          <a:solidFill>
                            <a:srgbClr val="1B2A4A"/>
                          </a:solidFill>
                        </a:rPr>
                        <a:t>s₃</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sz="800">
                          <a:solidFill>
                            <a:srgbClr val="1B2A4A"/>
                          </a:solidFill>
                        </a:rPr>
                        <a:t>0.109</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−0.047</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1.000</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0.016</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r>
              <a:tr h="173736">
                <a:tc>
                  <a:txBody>
                    <a:bodyPr/>
                    <a:lstStyle/>
                    <a:p>
                      <a:pPr algn="ctr">
                        <a:defRPr sz="1800"/>
                      </a:pPr>
                      <a:r>
                        <a:rPr b="1" sz="800">
                          <a:solidFill>
                            <a:srgbClr val="1B2A4A"/>
                          </a:solidFill>
                        </a:rPr>
                        <a:t>s₄</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1B2A4A"/>
                    </a:solidFill>
                  </a:tcPr>
                </a:tc>
                <a:tc>
                  <a:txBody>
                    <a:bodyPr/>
                    <a:lstStyle/>
                    <a:p>
                      <a:pPr algn="ctr">
                        <a:defRPr sz="1800"/>
                      </a:pPr>
                      <a:r>
                        <a:rPr sz="800">
                          <a:solidFill>
                            <a:srgbClr val="1B2A4A"/>
                          </a:solidFill>
                        </a:rPr>
                        <a:t>−0.063</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0.031</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0.016</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c>
                  <a:txBody>
                    <a:bodyPr/>
                    <a:lstStyle/>
                    <a:p>
                      <a:pPr algn="ctr">
                        <a:defRPr sz="1800"/>
                      </a:pPr>
                      <a:r>
                        <a:rPr sz="800">
                          <a:solidFill>
                            <a:srgbClr val="1B2A4A"/>
                          </a:solidFill>
                        </a:rPr>
                        <a:t>1.000</a:t>
                      </a:r>
                    </a:p>
                  </a:txBody>
                  <a:tcPr marL="12700" marR="12700" marT="12700" marB="12700" anchor="ctr" anchorCtr="0" horzOverflow="overflow">
                    <a:lnL w="6350">
                      <a:solidFill>
                        <a:srgbClr val="D7DEE9"/>
                      </a:solidFill>
                    </a:lnL>
                    <a:lnR w="6350">
                      <a:solidFill>
                        <a:srgbClr val="D7DEE9"/>
                      </a:solidFill>
                    </a:lnR>
                    <a:lnT w="6350">
                      <a:solidFill>
                        <a:srgbClr val="D7DEE9"/>
                      </a:solidFill>
                    </a:lnT>
                    <a:lnB w="6350">
                      <a:solidFill>
                        <a:srgbClr val="D7DEE9"/>
                      </a:solidFill>
                    </a:lnB>
                    <a:solidFill>
                      <a:srgbClr val="FFFFFF"/>
                    </a:solidFill>
                  </a:tcPr>
                </a:tc>
              </a:tr>
            </a:tbl>
          </a:graphicData>
        </a:graphic>
      </p:graphicFrame>
      <p:sp>
        <p:nvSpPr>
          <p:cNvPr id="140" name="Text 6"/>
          <p:cNvSpPr txBox="1"/>
          <p:nvPr/>
        </p:nvSpPr>
        <p:spPr>
          <a:xfrm>
            <a:off x="8152165" y="3779424"/>
            <a:ext cx="338328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5B6B82"/>
                </a:solidFill>
              </a:defRPr>
            </a:lvl1pPr>
          </a:lstStyle>
          <a:p>
            <a:pPr/>
            <a:r>
              <a:t>Pairwise cosine similarity (d=128) — off-diagonal ≈ 0 confirms near-orthogonality.</a:t>
            </a:r>
          </a:p>
        </p:txBody>
      </p:sp>
      <p:sp>
        <p:nvSpPr>
          <p:cNvPr id="141"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143"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CODE DIVISION MODULATION LAYERS (CDML)</a:t>
            </a:r>
          </a:p>
        </p:txBody>
      </p:sp>
      <p:sp>
        <p:nvSpPr>
          <p:cNvPr id="144"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Privacy Protection Collapses Without the Seed</a:t>
            </a:r>
          </a:p>
        </p:txBody>
      </p:sp>
      <p:sp>
        <p:nvSpPr>
          <p:cNvPr id="145" name="Text 2"/>
          <p:cNvSpPr txBox="1"/>
          <p:nvPr/>
        </p:nvSpPr>
        <p:spPr>
          <a:xfrm>
            <a:off x="594359" y="1438078"/>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300">
                <a:solidFill>
                  <a:srgbClr val="1B2A4A"/>
                </a:solidFill>
              </a:defRPr>
            </a:pPr>
            <a:r>
              <a:t>Across all four attacks, the no-seed attacker performs near chance, however an oracle who knows the seed recovers full identity information: CDML's protection is </a:t>
            </a:r>
            <a:r>
              <a:rPr b="1"/>
              <a:t>access-control,</a:t>
            </a:r>
            <a:r>
              <a:t> not representation obfuscation.</a:t>
            </a:r>
          </a:p>
        </p:txBody>
      </p:sp>
      <p:graphicFrame>
        <p:nvGraphicFramePr>
          <p:cNvPr id="146" name="Table 0"/>
          <p:cNvGraphicFramePr/>
          <p:nvPr/>
        </p:nvGraphicFramePr>
        <p:xfrm>
          <a:off x="548640" y="2103120"/>
          <a:ext cx="11064241" cy="2286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94560"/>
                <a:gridCol w="2103120"/>
                <a:gridCol w="2194560"/>
                <a:gridCol w="2286000"/>
                <a:gridCol w="2286000"/>
              </a:tblGrid>
              <a:tr h="457200">
                <a:tc>
                  <a:txBody>
                    <a:bodyPr/>
                    <a:lstStyle/>
                    <a:p>
                      <a:pPr algn="l">
                        <a:defRPr sz="1800"/>
                      </a:pPr>
                      <a:r>
                        <a:rPr b="1" sz="1300">
                          <a:solidFill>
                            <a:srgbClr val="FFFFFF"/>
                          </a:solidFill>
                        </a:rPr>
                        <a:t>Attack</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Metric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Std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CDML no-seed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CDML oracle</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57200">
                <a:tc>
                  <a:txBody>
                    <a:bodyPr/>
                    <a:lstStyle/>
                    <a:p>
                      <a:pPr algn="l">
                        <a:defRPr sz="1800"/>
                      </a:pPr>
                      <a:r>
                        <a:rPr b="1" sz="1300">
                          <a:solidFill>
                            <a:srgbClr val="1B2A4A"/>
                          </a:solidFill>
                        </a:rPr>
                        <a:t>MIA</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AUC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56.9%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51.0%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56.0%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57200">
                <a:tc>
                  <a:txBody>
                    <a:bodyPr/>
                    <a:lstStyle/>
                    <a:p>
                      <a:pPr algn="l">
                        <a:defRPr sz="1800"/>
                      </a:pPr>
                      <a:r>
                        <a:rPr b="1" sz="1300">
                          <a:solidFill>
                            <a:srgbClr val="1B2A4A"/>
                          </a:solidFill>
                        </a:rPr>
                        <a:t>IIA</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AUC (avg)</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66.4%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48.7%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99.2%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57200">
                <a:tc>
                  <a:txBody>
                    <a:bodyPr/>
                    <a:lstStyle/>
                    <a:p>
                      <a:pPr algn="l">
                        <a:defRPr sz="1800"/>
                      </a:pPr>
                      <a:r>
                        <a:rPr b="1" sz="1300">
                          <a:solidFill>
                            <a:srgbClr val="1B2A4A"/>
                          </a:solidFill>
                        </a:rPr>
                        <a:t>FSI</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k-NN acc.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87.7%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93.6%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57200">
                <a:tc>
                  <a:txBody>
                    <a:bodyPr/>
                    <a:lstStyle/>
                    <a:p>
                      <a:pPr algn="l">
                        <a:defRPr sz="1800"/>
                      </a:pPr>
                      <a:r>
                        <a:rPr b="1" sz="1300">
                          <a:solidFill>
                            <a:srgbClr val="1B2A4A"/>
                          </a:solidFill>
                        </a:rPr>
                        <a:t>Backdoor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ASR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42.9%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3.2%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64.7%*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bl>
          </a:graphicData>
        </a:graphic>
      </p:graphicFrame>
      <p:sp>
        <p:nvSpPr>
          <p:cNvPr id="147" name="Text 3"/>
          <p:cNvSpPr txBox="1"/>
          <p:nvPr/>
        </p:nvSpPr>
        <p:spPr>
          <a:xfrm>
            <a:off x="594359" y="4480604"/>
            <a:ext cx="10972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5B6B82"/>
                </a:solidFill>
              </a:defRPr>
            </a:lvl1pPr>
          </a:lstStyle>
          <a:p>
            <a:pPr/>
            <a:r>
              <a:t>*"Oracle" for Backdoor = tested with the poisoned task's own sequence (Task 3, seed 1002); any other sequence gives ≤8% ASR.</a:t>
            </a:r>
          </a:p>
        </p:txBody>
      </p:sp>
      <p:sp>
        <p:nvSpPr>
          <p:cNvPr id="148" name="Shape 4"/>
          <p:cNvSpPr/>
          <p:nvPr/>
        </p:nvSpPr>
        <p:spPr>
          <a:xfrm>
            <a:off x="548640" y="4892040"/>
            <a:ext cx="5349241" cy="1371601"/>
          </a:xfrm>
          <a:prstGeom prst="roundRect">
            <a:avLst>
              <a:gd name="adj" fmla="val 6667"/>
            </a:avLst>
          </a:prstGeom>
          <a:solidFill>
            <a:srgbClr val="FBE9D6"/>
          </a:solidFill>
          <a:ln w="12700">
            <a:solidFill>
              <a:srgbClr val="C97A2E"/>
            </a:solidFill>
          </a:ln>
        </p:spPr>
        <p:txBody>
          <a:bodyPr lIns="45719" rIns="45719"/>
          <a:lstStyle/>
          <a:p>
            <a:pPr/>
          </a:p>
        </p:txBody>
      </p:sp>
      <p:sp>
        <p:nvSpPr>
          <p:cNvPr id="149" name="Text 5"/>
          <p:cNvSpPr txBox="1"/>
          <p:nvPr/>
        </p:nvSpPr>
        <p:spPr>
          <a:xfrm>
            <a:off x="868680" y="5244137"/>
            <a:ext cx="4754880" cy="667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Sequence-Dependent Backdoor</a:t>
            </a:r>
          </a:p>
          <a:p>
            <a:pPr>
              <a:defRPr sz="1200">
                <a:solidFill>
                  <a:srgbClr val="1B2A4A"/>
                </a:solidFill>
              </a:defRPr>
            </a:pPr>
            <a:r>
              <a:t>Only the poisoned task's own seed reactivates the trigger,  a compromised backdoor stays contained to the users holding that one sequence.</a:t>
            </a:r>
          </a:p>
        </p:txBody>
      </p:sp>
      <p:sp>
        <p:nvSpPr>
          <p:cNvPr id="150" name="Shape 6"/>
          <p:cNvSpPr/>
          <p:nvPr/>
        </p:nvSpPr>
        <p:spPr>
          <a:xfrm>
            <a:off x="6080759" y="4892040"/>
            <a:ext cx="5532121" cy="1371601"/>
          </a:xfrm>
          <a:prstGeom prst="roundRect">
            <a:avLst>
              <a:gd name="adj" fmla="val 6667"/>
            </a:avLst>
          </a:prstGeom>
          <a:solidFill>
            <a:srgbClr val="E7ECF5"/>
          </a:solidFill>
          <a:ln w="12700">
            <a:solidFill>
              <a:srgbClr val="B33A3A"/>
            </a:solidFill>
          </a:ln>
        </p:spPr>
        <p:txBody>
          <a:bodyPr lIns="45719" rIns="45719"/>
          <a:lstStyle/>
          <a:p>
            <a:pPr/>
          </a:p>
        </p:txBody>
      </p:sp>
      <p:sp>
        <p:nvSpPr>
          <p:cNvPr id="151" name="Text 7"/>
          <p:cNvSpPr txBox="1"/>
          <p:nvPr/>
        </p:nvSpPr>
        <p:spPr>
          <a:xfrm>
            <a:off x="6400800" y="5148887"/>
            <a:ext cx="4937760" cy="8579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Seed-Identification Risk</a:t>
            </a:r>
          </a:p>
          <a:p>
            <a:pPr>
              <a:defRPr sz="1200">
                <a:solidFill>
                  <a:srgbClr val="1B2A4A"/>
                </a:solidFill>
              </a:defRPr>
            </a:pPr>
            <a:r>
              <a:t>Given the list of 4 seeds, an attacker recovers the most recent task's seed 95.2% of the time by probing for max confidence , thus the seed list itself must stay secret.</a:t>
            </a:r>
          </a:p>
        </p:txBody>
      </p:sp>
      <p:pic>
        <p:nvPicPr>
          <p:cNvPr id="152"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153"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155" name="Rettangolo"/>
          <p:cNvSpPr/>
          <p:nvPr/>
        </p:nvSpPr>
        <p:spPr>
          <a:xfrm>
            <a:off x="5972255" y="3299717"/>
            <a:ext cx="2666356" cy="395737"/>
          </a:xfrm>
          <a:prstGeom prst="rect">
            <a:avLst/>
          </a:prstGeom>
          <a:solidFill>
            <a:srgbClr val="F6F8FC"/>
          </a:solidFill>
          <a:ln w="12700">
            <a:solidFill>
              <a:srgbClr val="000000"/>
            </a:solidFill>
            <a:miter lim="400000"/>
          </a:ln>
        </p:spPr>
        <p:txBody>
          <a:bodyPr lIns="45719" rIns="45719" anchor="ctr"/>
          <a:lstStyle/>
          <a:p>
            <a:pPr/>
          </a:p>
        </p:txBody>
      </p:sp>
      <p:sp>
        <p:nvSpPr>
          <p:cNvPr id="156" name="Rettangolo"/>
          <p:cNvSpPr/>
          <p:nvPr/>
        </p:nvSpPr>
        <p:spPr>
          <a:xfrm>
            <a:off x="7415356" y="1721903"/>
            <a:ext cx="4611122" cy="395736"/>
          </a:xfrm>
          <a:prstGeom prst="rect">
            <a:avLst/>
          </a:prstGeom>
          <a:solidFill>
            <a:srgbClr val="F6F8FC"/>
          </a:solidFill>
          <a:ln w="12700">
            <a:solidFill>
              <a:srgbClr val="000000"/>
            </a:solidFill>
            <a:miter lim="400000"/>
          </a:ln>
        </p:spPr>
        <p:txBody>
          <a:bodyPr lIns="45719" rIns="45719" anchor="ctr"/>
          <a:lstStyle/>
          <a:p>
            <a:pPr/>
          </a:p>
        </p:txBody>
      </p:sp>
      <p:sp>
        <p:nvSpPr>
          <p:cNvPr id="157"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CDML EXTENSIONS AND HYBRID METHODS</a:t>
            </a:r>
          </a:p>
        </p:txBody>
      </p:sp>
      <p:sp>
        <p:nvSpPr>
          <p:cNvPr id="158"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Three Extensions to Close CDML's Forgetting Gap</a:t>
            </a:r>
          </a:p>
        </p:txBody>
      </p:sp>
      <p:sp>
        <p:nvSpPr>
          <p:cNvPr id="159" name="Shape 2"/>
          <p:cNvSpPr/>
          <p:nvPr/>
        </p:nvSpPr>
        <p:spPr>
          <a:xfrm>
            <a:off x="548640" y="1501139"/>
            <a:ext cx="640081" cy="640081"/>
          </a:xfrm>
          <a:prstGeom prst="ellipse">
            <a:avLst/>
          </a:prstGeom>
          <a:solidFill>
            <a:srgbClr val="0A6E8C"/>
          </a:solidFill>
          <a:ln w="12700">
            <a:solidFill>
              <a:srgbClr val="0A6E8C"/>
            </a:solidFill>
          </a:ln>
        </p:spPr>
        <p:txBody>
          <a:bodyPr lIns="45719" rIns="45719"/>
          <a:lstStyle/>
          <a:p>
            <a:pPr/>
          </a:p>
        </p:txBody>
      </p:sp>
      <p:sp>
        <p:nvSpPr>
          <p:cNvPr id="160" name="Text 3"/>
          <p:cNvSpPr txBox="1"/>
          <p:nvPr/>
        </p:nvSpPr>
        <p:spPr>
          <a:xfrm>
            <a:off x="594359" y="1692078"/>
            <a:ext cx="5486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KD</a:t>
            </a:r>
          </a:p>
        </p:txBody>
      </p:sp>
      <p:sp>
        <p:nvSpPr>
          <p:cNvPr id="161" name="Text 4"/>
          <p:cNvSpPr txBox="1"/>
          <p:nvPr/>
        </p:nvSpPr>
        <p:spPr>
          <a:xfrm>
            <a:off x="1303020" y="1609608"/>
            <a:ext cx="9875520" cy="4289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1B2A4A"/>
                </a:solidFill>
              </a:defRPr>
            </a:pPr>
            <a:r>
              <a:t>CDML + Knowledge Distillation</a:t>
            </a:r>
          </a:p>
          <a:p>
            <a:pPr>
              <a:defRPr sz="1100">
                <a:solidFill>
                  <a:srgbClr val="1B2A4A"/>
                </a:solidFill>
              </a:defRPr>
            </a:pPr>
            <a:r>
              <a:t>Focal distillation anchors the student to the teacher on samples it already got right -&gt; targets negative flips</a:t>
            </a:r>
          </a:p>
        </p:txBody>
      </p:sp>
      <p:sp>
        <p:nvSpPr>
          <p:cNvPr id="162" name="Shape 5"/>
          <p:cNvSpPr/>
          <p:nvPr/>
        </p:nvSpPr>
        <p:spPr>
          <a:xfrm>
            <a:off x="548640" y="2286000"/>
            <a:ext cx="640081" cy="640081"/>
          </a:xfrm>
          <a:prstGeom prst="ellipse">
            <a:avLst/>
          </a:prstGeom>
          <a:solidFill>
            <a:srgbClr val="1C7293"/>
          </a:solidFill>
          <a:ln w="12700">
            <a:solidFill>
              <a:srgbClr val="1C7293"/>
            </a:solidFill>
          </a:ln>
        </p:spPr>
        <p:txBody>
          <a:bodyPr lIns="45719" rIns="45719"/>
          <a:lstStyle/>
          <a:p>
            <a:pPr/>
          </a:p>
        </p:txBody>
      </p:sp>
      <p:sp>
        <p:nvSpPr>
          <p:cNvPr id="163" name="Text 6"/>
          <p:cNvSpPr txBox="1"/>
          <p:nvPr/>
        </p:nvSpPr>
        <p:spPr>
          <a:xfrm>
            <a:off x="594359" y="2476939"/>
            <a:ext cx="54864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WGR</a:t>
            </a:r>
          </a:p>
        </p:txBody>
      </p:sp>
      <p:sp>
        <p:nvSpPr>
          <p:cNvPr id="164" name="Text 7"/>
          <p:cNvSpPr txBox="1"/>
          <p:nvPr/>
        </p:nvSpPr>
        <p:spPr>
          <a:xfrm>
            <a:off x="1303020" y="2391586"/>
            <a:ext cx="9875520" cy="4289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1B2A4A"/>
                </a:solidFill>
              </a:defRPr>
            </a:pPr>
            <a:r>
              <a:t>CDML + Wavelet Generative Replay</a:t>
            </a:r>
          </a:p>
          <a:p>
            <a:pPr>
              <a:defRPr sz="1100">
                <a:solidFill>
                  <a:srgbClr val="1B2A4A"/>
                </a:solidFill>
              </a:defRPr>
            </a:pPr>
            <a:r>
              <a:t>Synthesizes windows from stored DWT statistics (db4, level 3) -&gt; no raw data retained</a:t>
            </a:r>
          </a:p>
        </p:txBody>
      </p:sp>
      <p:sp>
        <p:nvSpPr>
          <p:cNvPr id="165" name="Shape 8"/>
          <p:cNvSpPr/>
          <p:nvPr/>
        </p:nvSpPr>
        <p:spPr>
          <a:xfrm>
            <a:off x="548640" y="3108960"/>
            <a:ext cx="640081" cy="640081"/>
          </a:xfrm>
          <a:prstGeom prst="ellipse">
            <a:avLst/>
          </a:prstGeom>
          <a:solidFill>
            <a:srgbClr val="1B2A4A"/>
          </a:solidFill>
          <a:ln w="12700">
            <a:solidFill>
              <a:srgbClr val="1B2A4A"/>
            </a:solidFill>
          </a:ln>
        </p:spPr>
        <p:txBody>
          <a:bodyPr lIns="45719" rIns="45719"/>
          <a:lstStyle/>
          <a:p>
            <a:pPr/>
          </a:p>
        </p:txBody>
      </p:sp>
      <p:sp>
        <p:nvSpPr>
          <p:cNvPr id="166" name="Text 9"/>
          <p:cNvSpPr txBox="1"/>
          <p:nvPr/>
        </p:nvSpPr>
        <p:spPr>
          <a:xfrm>
            <a:off x="594359" y="3299899"/>
            <a:ext cx="54864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defRPr>
            </a:lvl1pPr>
          </a:lstStyle>
          <a:p>
            <a:pPr/>
            <a:r>
              <a:t>LiDER</a:t>
            </a:r>
          </a:p>
        </p:txBody>
      </p:sp>
      <p:sp>
        <p:nvSpPr>
          <p:cNvPr id="167" name="Text 10"/>
          <p:cNvSpPr txBox="1"/>
          <p:nvPr/>
        </p:nvSpPr>
        <p:spPr>
          <a:xfrm>
            <a:off x="1303020" y="3214546"/>
            <a:ext cx="9875520" cy="4289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1B2A4A"/>
                </a:solidFill>
              </a:defRPr>
            </a:pPr>
            <a:r>
              <a:t>CDML + Lipschitz Regularization</a:t>
            </a:r>
          </a:p>
          <a:p>
            <a:pPr>
              <a:defRPr sz="1100">
                <a:solidFill>
                  <a:srgbClr val="1B2A4A"/>
                </a:solidFill>
              </a:defRPr>
            </a:pPr>
            <a:r>
              <a:t>Bounds the embedding layer's spectral norm, plus a small 10% raw-replay buffer</a:t>
            </a:r>
          </a:p>
        </p:txBody>
      </p:sp>
      <p:pic>
        <p:nvPicPr>
          <p:cNvPr id="168" name="Screenshot 2026-07-23 alle 11.13.54.png" descr="Screenshot 2026-07-23 alle 11.13.54.png"/>
          <p:cNvPicPr>
            <a:picLocks noChangeAspect="1"/>
          </p:cNvPicPr>
          <p:nvPr/>
        </p:nvPicPr>
        <p:blipFill>
          <a:blip r:embed="rId2">
            <a:extLst/>
          </a:blip>
          <a:stretch>
            <a:fillRect/>
          </a:stretch>
        </p:blipFill>
        <p:spPr>
          <a:xfrm>
            <a:off x="609599" y="3925569"/>
            <a:ext cx="10972801" cy="2261147"/>
          </a:xfrm>
          <a:prstGeom prst="rect">
            <a:avLst/>
          </a:prstGeom>
          <a:ln w="12700">
            <a:miter lim="400000"/>
          </a:ln>
        </p:spPr>
      </p:pic>
      <p:pic>
        <p:nvPicPr>
          <p:cNvPr id="169" name="Screenshot 2026-07-23 alle 11.14.14.png" descr="Screenshot 2026-07-23 alle 11.14.14.png"/>
          <p:cNvPicPr>
            <a:picLocks noChangeAspect="1"/>
          </p:cNvPicPr>
          <p:nvPr/>
        </p:nvPicPr>
        <p:blipFill>
          <a:blip r:embed="rId3">
            <a:extLst/>
          </a:blip>
          <a:stretch>
            <a:fillRect/>
          </a:stretch>
        </p:blipFill>
        <p:spPr>
          <a:xfrm>
            <a:off x="4968296" y="6271861"/>
            <a:ext cx="1752601" cy="228601"/>
          </a:xfrm>
          <a:prstGeom prst="rect">
            <a:avLst/>
          </a:prstGeom>
          <a:ln w="12700">
            <a:miter lim="400000"/>
          </a:ln>
        </p:spPr>
      </p:pic>
      <p:pic>
        <p:nvPicPr>
          <p:cNvPr id="170" name="logo-2.png" descr="logo-2.png"/>
          <p:cNvPicPr>
            <a:picLocks noChangeAspect="1"/>
          </p:cNvPicPr>
          <p:nvPr/>
        </p:nvPicPr>
        <p:blipFill>
          <a:blip r:embed="rId4">
            <a:extLst/>
          </a:blip>
          <a:stretch>
            <a:fillRect/>
          </a:stretch>
        </p:blipFill>
        <p:spPr>
          <a:xfrm>
            <a:off x="9928565" y="40834"/>
            <a:ext cx="2211422" cy="547622"/>
          </a:xfrm>
          <a:prstGeom prst="rect">
            <a:avLst/>
          </a:prstGeom>
          <a:ln w="12700">
            <a:miter lim="400000"/>
          </a:ln>
        </p:spPr>
      </p:pic>
      <p:sp>
        <p:nvSpPr>
          <p:cNvPr id="171" name="Equazione"/>
          <p:cNvSpPr txBox="1"/>
          <p:nvPr/>
        </p:nvSpPr>
        <p:spPr>
          <a:xfrm>
            <a:off x="7510953" y="1801025"/>
            <a:ext cx="4419929" cy="237491"/>
          </a:xfrm>
          <a:prstGeom prst="rect">
            <a:avLst/>
          </a:prstGeom>
          <a:ln w="12700">
            <a:miter lim="400000"/>
          </a:ln>
        </p:spPr>
        <p:txBody>
          <a:bodyPr wrap="none" lIns="0" tIns="0" rIns="0" bIns="0">
            <a:spAutoFit/>
          </a:bodyPr>
          <a:lstStyle/>
          <a:p>
            <a:pPr latinLnBrk="1"/>
            <a14:m>
              <m:oMathPara>
                <m:oMathParaPr>
                  <m:jc m:val="centerGroup"/>
                </m:oMathParaPr>
                <m:oMath>
                  <m:sSub>
                    <m:e>
                      <m:r>
                        <m:rPr>
                          <m:scr m:val="script"/>
                        </m:rPr>
                        <a:rPr xmlns:a="http://schemas.openxmlformats.org/drawingml/2006/main" sz="1100" i="1">
                          <a:solidFill>
                            <a:srgbClr val="000000"/>
                          </a:solidFill>
                          <a:latin typeface="Cambria Math" panose="02040503050406030204" pitchFamily="18" charset="0"/>
                        </a:rPr>
                        <m:t>L</m:t>
                      </m:r>
                    </m:e>
                    <m:sub>
                      <m:r>
                        <m:rPr>
                          <m:sty m:val="p"/>
                        </m:rPr>
                        <a:rPr xmlns:a="http://schemas.openxmlformats.org/drawingml/2006/main" sz="1100" i="1">
                          <a:solidFill>
                            <a:srgbClr val="000000"/>
                          </a:solidFill>
                          <a:latin typeface="Cambria Math" panose="02040503050406030204" pitchFamily="18" charset="0"/>
                        </a:rPr>
                        <m:t>total</m:t>
                      </m:r>
                    </m:sub>
                  </m:sSub>
                  <m:r>
                    <a:rPr xmlns:a="http://schemas.openxmlformats.org/drawingml/2006/main" sz="1100" i="1">
                      <a:solidFill>
                        <a:srgbClr val="000000"/>
                      </a:solidFill>
                      <a:latin typeface="Cambria Math" panose="02040503050406030204" pitchFamily="18" charset="0"/>
                    </a:rPr>
                    <m:t>(</m:t>
                  </m:r>
                  <m:r>
                    <m:rPr>
                      <m:sty m:val="b"/>
                    </m:rPr>
                    <a:rPr xmlns:a="http://schemas.openxmlformats.org/drawingml/2006/main" sz="1100" i="1">
                      <a:solidFill>
                        <a:srgbClr val="000000"/>
                      </a:solidFill>
                      <a:latin typeface="Cambria Math" panose="02040503050406030204" pitchFamily="18" charset="0"/>
                    </a:rPr>
                    <m:t>x</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y</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sSub>
                    <m:e>
                      <m:r>
                        <m:rPr>
                          <m:scr m:val="script"/>
                        </m:rPr>
                        <a:rPr xmlns:a="http://schemas.openxmlformats.org/drawingml/2006/main" sz="1100" i="1">
                          <a:solidFill>
                            <a:srgbClr val="000000"/>
                          </a:solidFill>
                          <a:latin typeface="Cambria Math" panose="02040503050406030204" pitchFamily="18" charset="0"/>
                        </a:rPr>
                        <m:t>L</m:t>
                      </m:r>
                    </m:e>
                    <m:sub>
                      <m:r>
                        <m:rPr>
                          <m:sty m:val="p"/>
                        </m:rPr>
                        <a:rPr xmlns:a="http://schemas.openxmlformats.org/drawingml/2006/main" sz="1100" i="1">
                          <a:solidFill>
                            <a:srgbClr val="000000"/>
                          </a:solidFill>
                          <a:latin typeface="Cambria Math" panose="02040503050406030204" pitchFamily="18" charset="0"/>
                        </a:rPr>
                        <m:t>CE</m:t>
                      </m:r>
                    </m:sub>
                  </m:sSub>
                  <m:r>
                    <a:rPr xmlns:a="http://schemas.openxmlformats.org/drawingml/2006/main" sz="1100" i="1">
                      <a:solidFill>
                        <a:srgbClr val="000000"/>
                      </a:solidFill>
                      <a:latin typeface="Cambria Math" panose="02040503050406030204" pitchFamily="18" charset="0"/>
                    </a:rPr>
                    <m:t>(</m:t>
                  </m:r>
                  <m:sSubSup>
                    <m:e>
                      <m:r>
                        <a:rPr xmlns:a="http://schemas.openxmlformats.org/drawingml/2006/main" sz="1100" i="1">
                          <a:solidFill>
                            <a:srgbClr val="000000"/>
                          </a:solidFill>
                          <a:latin typeface="Cambria Math" panose="02040503050406030204" pitchFamily="18" charset="0"/>
                        </a:rPr>
                        <m:t>f</m:t>
                      </m:r>
                    </m:e>
                    <m:sub>
                      <m:r>
                        <a:rPr xmlns:a="http://schemas.openxmlformats.org/drawingml/2006/main" sz="1100" i="1">
                          <a:solidFill>
                            <a:srgbClr val="000000"/>
                          </a:solidFill>
                          <a:latin typeface="Cambria Math" panose="02040503050406030204" pitchFamily="18" charset="0"/>
                        </a:rPr>
                        <m:t>θ</m:t>
                      </m:r>
                    </m:sub>
                    <m:sup>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k</m:t>
                      </m:r>
                      <m:r>
                        <a:rPr xmlns:a="http://schemas.openxmlformats.org/drawingml/2006/main" sz="1100" i="1">
                          <a:solidFill>
                            <a:srgbClr val="000000"/>
                          </a:solidFill>
                          <a:latin typeface="Cambria Math" panose="02040503050406030204" pitchFamily="18" charset="0"/>
                        </a:rPr>
                        <m:t>)</m:t>
                      </m:r>
                    </m:sup>
                  </m:sSubSup>
                  <m:r>
                    <a:rPr xmlns:a="http://schemas.openxmlformats.org/drawingml/2006/main" sz="1100" i="1">
                      <a:solidFill>
                        <a:srgbClr val="000000"/>
                      </a:solidFill>
                      <a:latin typeface="Cambria Math" panose="02040503050406030204" pitchFamily="18" charset="0"/>
                    </a:rPr>
                    <m:t>(</m:t>
                  </m:r>
                  <m:r>
                    <m:rPr>
                      <m:sty m:val="b"/>
                    </m:rPr>
                    <a:rPr xmlns:a="http://schemas.openxmlformats.org/drawingml/2006/main" sz="1100" i="1">
                      <a:solidFill>
                        <a:srgbClr val="000000"/>
                      </a:solidFill>
                      <a:latin typeface="Cambria Math" panose="02040503050406030204" pitchFamily="18" charset="0"/>
                    </a:rPr>
                    <m:t>x</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y</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λ</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α</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β</m:t>
                  </m:r>
                  <m:r>
                    <a:rPr xmlns:a="http://schemas.openxmlformats.org/drawingml/2006/main" sz="1100" i="1">
                      <a:solidFill>
                        <a:srgbClr val="000000"/>
                      </a:solidFill>
                      <a:latin typeface="Cambria Math" panose="02040503050406030204" pitchFamily="18" charset="0"/>
                    </a:rPr>
                    <m:t>⋅</m:t>
                  </m:r>
                  <m:r>
                    <m:rPr>
                      <m:sty m:val="b"/>
                    </m:rPr>
                    <a:rPr xmlns:a="http://schemas.openxmlformats.org/drawingml/2006/main" sz="1100" i="1">
                      <a:solidFill>
                        <a:srgbClr val="000000"/>
                      </a:solidFill>
                      <a:latin typeface="Cambria Math" panose="02040503050406030204" pitchFamily="18" charset="0"/>
                    </a:rPr>
                    <m:t>1</m:t>
                  </m:r>
                  <m:r>
                    <a:rPr xmlns:a="http://schemas.openxmlformats.org/drawingml/2006/main" sz="1100" i="1">
                      <a:solidFill>
                        <a:srgbClr val="000000"/>
                      </a:solidFill>
                      <a:latin typeface="Cambria Math" panose="02040503050406030204" pitchFamily="18" charset="0"/>
                    </a:rPr>
                    <m:t>[</m:t>
                  </m:r>
                  <m:sSub>
                    <m:e>
                      <m:limUpp>
                        <m:e>
                          <m:r>
                            <a:rPr xmlns:a="http://schemas.openxmlformats.org/drawingml/2006/main" sz="1100" i="1">
                              <a:solidFill>
                                <a:srgbClr val="000000"/>
                              </a:solidFill>
                              <a:latin typeface="Cambria Math" panose="02040503050406030204" pitchFamily="18" charset="0"/>
                            </a:rPr>
                            <m:t>y</m:t>
                          </m:r>
                        </m:e>
                        <m:lim>
                          <m:r>
                            <a:rPr xmlns:a="http://schemas.openxmlformats.org/drawingml/2006/main" sz="1100" i="1">
                              <a:solidFill>
                                <a:srgbClr val="000000"/>
                              </a:solidFill>
                              <a:latin typeface="Cambria Math" panose="02040503050406030204" pitchFamily="18" charset="0"/>
                            </a:rPr>
                            <m:t>̂</m:t>
                          </m:r>
                        </m:lim>
                      </m:limUpp>
                    </m:e>
                    <m:sub>
                      <m:r>
                        <m:rPr>
                          <m:sty m:val="p"/>
                        </m:rPr>
                        <a:rPr xmlns:a="http://schemas.openxmlformats.org/drawingml/2006/main" sz="1100" i="1">
                          <a:solidFill>
                            <a:srgbClr val="000000"/>
                          </a:solidFill>
                          <a:latin typeface="Cambria Math" panose="02040503050406030204" pitchFamily="18" charset="0"/>
                        </a:rPr>
                        <m:t>old</m:t>
                      </m:r>
                    </m:sub>
                  </m:sSub>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y</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sSubSup>
                    <m:e>
                      <m:r>
                        <a:rPr xmlns:a="http://schemas.openxmlformats.org/drawingml/2006/main" sz="1100" i="1">
                          <a:solidFill>
                            <a:srgbClr val="000000"/>
                          </a:solidFill>
                          <a:latin typeface="Cambria Math" panose="02040503050406030204" pitchFamily="18" charset="0"/>
                        </a:rPr>
                        <m:t>f</m:t>
                      </m:r>
                    </m:e>
                    <m:sub>
                      <m:r>
                        <a:rPr xmlns:a="http://schemas.openxmlformats.org/drawingml/2006/main" sz="1100" i="1">
                          <a:solidFill>
                            <a:srgbClr val="000000"/>
                          </a:solidFill>
                          <a:latin typeface="Cambria Math" panose="02040503050406030204" pitchFamily="18" charset="0"/>
                        </a:rPr>
                        <m:t>θ</m:t>
                      </m:r>
                    </m:sub>
                    <m:sup>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k</m:t>
                      </m:r>
                      <m:r>
                        <a:rPr xmlns:a="http://schemas.openxmlformats.org/drawingml/2006/main" sz="1100" i="1">
                          <a:solidFill>
                            <a:srgbClr val="000000"/>
                          </a:solidFill>
                          <a:latin typeface="Cambria Math" panose="02040503050406030204" pitchFamily="18" charset="0"/>
                        </a:rPr>
                        <m:t>)</m:t>
                      </m:r>
                    </m:sup>
                  </m:sSubSup>
                  <m:r>
                    <a:rPr xmlns:a="http://schemas.openxmlformats.org/drawingml/2006/main" sz="1100" i="1">
                      <a:solidFill>
                        <a:srgbClr val="000000"/>
                      </a:solidFill>
                      <a:latin typeface="Cambria Math" panose="02040503050406030204" pitchFamily="18" charset="0"/>
                    </a:rPr>
                    <m:t>(</m:t>
                  </m:r>
                  <m:r>
                    <m:rPr>
                      <m:sty m:val="b"/>
                    </m:rPr>
                    <a:rPr xmlns:a="http://schemas.openxmlformats.org/drawingml/2006/main" sz="1100" i="1">
                      <a:solidFill>
                        <a:srgbClr val="000000"/>
                      </a:solidFill>
                      <a:latin typeface="Cambria Math" panose="02040503050406030204" pitchFamily="18" charset="0"/>
                    </a:rPr>
                    <m:t>x</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t>
                  </m:r>
                  <m:sSubSup>
                    <m:e>
                      <m:r>
                        <a:rPr xmlns:a="http://schemas.openxmlformats.org/drawingml/2006/main" sz="1100" i="1">
                          <a:solidFill>
                            <a:srgbClr val="000000"/>
                          </a:solidFill>
                          <a:latin typeface="Cambria Math" panose="02040503050406030204" pitchFamily="18" charset="0"/>
                        </a:rPr>
                        <m:t>f</m:t>
                      </m:r>
                    </m:e>
                    <m:sub>
                      <m:r>
                        <a:rPr xmlns:a="http://schemas.openxmlformats.org/drawingml/2006/main" sz="1100" i="1">
                          <a:solidFill>
                            <a:srgbClr val="000000"/>
                          </a:solidFill>
                          <a:latin typeface="Cambria Math" panose="02040503050406030204" pitchFamily="18" charset="0"/>
                        </a:rPr>
                        <m:t>θ</m:t>
                      </m:r>
                    </m:sub>
                    <m:sup>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k</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1</m:t>
                      </m:r>
                      <m:r>
                        <a:rPr xmlns:a="http://schemas.openxmlformats.org/drawingml/2006/main" sz="1100" i="1">
                          <a:solidFill>
                            <a:srgbClr val="000000"/>
                          </a:solidFill>
                          <a:latin typeface="Cambria Math" panose="02040503050406030204" pitchFamily="18" charset="0"/>
                        </a:rPr>
                        <m:t>)</m:t>
                      </m:r>
                    </m:sup>
                  </m:sSubSup>
                  <m:r>
                    <a:rPr xmlns:a="http://schemas.openxmlformats.org/drawingml/2006/main" sz="1100" i="1">
                      <a:solidFill>
                        <a:srgbClr val="000000"/>
                      </a:solidFill>
                      <a:latin typeface="Cambria Math" panose="02040503050406030204" pitchFamily="18" charset="0"/>
                    </a:rPr>
                    <m:t>(</m:t>
                  </m:r>
                  <m:r>
                    <m:rPr>
                      <m:sty m:val="b"/>
                    </m:rPr>
                    <a:rPr xmlns:a="http://schemas.openxmlformats.org/drawingml/2006/main" sz="1100" i="1">
                      <a:solidFill>
                        <a:srgbClr val="000000"/>
                      </a:solidFill>
                      <a:latin typeface="Cambria Math" panose="02040503050406030204" pitchFamily="18" charset="0"/>
                    </a:rPr>
                    <m:t>x</m:t>
                  </m:r>
                  <m:r>
                    <a:rPr xmlns:a="http://schemas.openxmlformats.org/drawingml/2006/main" sz="1100" i="1">
                      <a:solidFill>
                        <a:srgbClr val="000000"/>
                      </a:solidFill>
                      <a:latin typeface="Cambria Math" panose="02040503050406030204" pitchFamily="18" charset="0"/>
                    </a:rPr>
                    <m:t>)</m:t>
                  </m:r>
                  <m:sSubSup>
                    <m:e>
                      <m:r>
                        <a:rPr xmlns:a="http://schemas.openxmlformats.org/drawingml/2006/main" sz="1100" i="1">
                          <a:solidFill>
                            <a:srgbClr val="000000"/>
                          </a:solidFill>
                          <a:latin typeface="Cambria Math" panose="02040503050406030204" pitchFamily="18" charset="0"/>
                        </a:rPr>
                        <m:t>∥</m:t>
                      </m:r>
                    </m:e>
                    <m:sub>
                      <m:r>
                        <a:rPr xmlns:a="http://schemas.openxmlformats.org/drawingml/2006/main" sz="1100" i="1">
                          <a:solidFill>
                            <a:srgbClr val="000000"/>
                          </a:solidFill>
                          <a:latin typeface="Cambria Math" panose="02040503050406030204" pitchFamily="18" charset="0"/>
                        </a:rPr>
                        <m:t>2</m:t>
                      </m:r>
                    </m:sub>
                    <m:sup>
                      <m:r>
                        <a:rPr xmlns:a="http://schemas.openxmlformats.org/drawingml/2006/main" sz="1100" i="1">
                          <a:solidFill>
                            <a:srgbClr val="000000"/>
                          </a:solidFill>
                          <a:latin typeface="Cambria Math" panose="02040503050406030204" pitchFamily="18" charset="0"/>
                        </a:rPr>
                        <m:t>2</m:t>
                      </m:r>
                    </m:sup>
                  </m:sSubSup>
                </m:oMath>
              </m:oMathPara>
            </a14:m>
            <a:endParaRPr sz="1100"/>
          </a:p>
        </p:txBody>
      </p:sp>
      <p:sp>
        <p:nvSpPr>
          <p:cNvPr id="172" name="Equazione"/>
          <p:cNvSpPr txBox="1"/>
          <p:nvPr/>
        </p:nvSpPr>
        <p:spPr>
          <a:xfrm>
            <a:off x="6040696" y="3424369"/>
            <a:ext cx="2506543" cy="171832"/>
          </a:xfrm>
          <a:prstGeom prst="rect">
            <a:avLst/>
          </a:prstGeom>
          <a:ln w="12700">
            <a:miter lim="400000"/>
          </a:ln>
        </p:spPr>
        <p:txBody>
          <a:bodyPr wrap="none" lIns="0" tIns="0" rIns="0" bIns="0">
            <a:spAutoFit/>
          </a:bodyPr>
          <a:lstStyle/>
          <a:p>
            <a:pPr latinLnBrk="1"/>
            <a14:m>
              <m:oMathPara>
                <m:oMathParaPr>
                  <m:jc m:val="centerGroup"/>
                </m:oMathParaPr>
                <m:oMath>
                  <m:sSub>
                    <m:e>
                      <m:r>
                        <m:rPr>
                          <m:scr m:val="script"/>
                        </m:rPr>
                        <a:rPr xmlns:a="http://schemas.openxmlformats.org/drawingml/2006/main" sz="1100" i="1">
                          <a:solidFill>
                            <a:srgbClr val="000000"/>
                          </a:solidFill>
                          <a:latin typeface="Cambria Math" panose="02040503050406030204" pitchFamily="18" charset="0"/>
                        </a:rPr>
                        <m:t>L</m:t>
                      </m:r>
                    </m:e>
                    <m:sub>
                      <m:r>
                        <m:rPr>
                          <m:sty m:val="p"/>
                        </m:rPr>
                        <a:rPr xmlns:a="http://schemas.openxmlformats.org/drawingml/2006/main" sz="1100" i="1">
                          <a:solidFill>
                            <a:srgbClr val="000000"/>
                          </a:solidFill>
                          <a:latin typeface="Cambria Math" panose="02040503050406030204" pitchFamily="18" charset="0"/>
                        </a:rPr>
                        <m:t>LiDER</m:t>
                      </m:r>
                    </m:sub>
                  </m:sSub>
                  <m:r>
                    <a:rPr xmlns:a="http://schemas.openxmlformats.org/drawingml/2006/main" sz="1100" i="1">
                      <a:solidFill>
                        <a:srgbClr val="000000"/>
                      </a:solidFill>
                      <a:latin typeface="Cambria Math" panose="02040503050406030204" pitchFamily="18" charset="0"/>
                    </a:rPr>
                    <m:t>=</m:t>
                  </m:r>
                  <m:sSub>
                    <m:e>
                      <m:r>
                        <m:rPr>
                          <m:scr m:val="script"/>
                        </m:rPr>
                        <a:rPr xmlns:a="http://schemas.openxmlformats.org/drawingml/2006/main" sz="1100" i="1">
                          <a:solidFill>
                            <a:srgbClr val="000000"/>
                          </a:solidFill>
                          <a:latin typeface="Cambria Math" panose="02040503050406030204" pitchFamily="18" charset="0"/>
                        </a:rPr>
                        <m:t>L</m:t>
                      </m:r>
                    </m:e>
                    <m:sub>
                      <m:r>
                        <m:rPr>
                          <m:sty m:val="p"/>
                        </m:rPr>
                        <a:rPr xmlns:a="http://schemas.openxmlformats.org/drawingml/2006/main" sz="1100" i="1">
                          <a:solidFill>
                            <a:srgbClr val="000000"/>
                          </a:solidFill>
                          <a:latin typeface="Cambria Math" panose="02040503050406030204" pitchFamily="18" charset="0"/>
                        </a:rPr>
                        <m:t>CE</m:t>
                      </m:r>
                    </m:sub>
                  </m:sSub>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w</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max</m:t>
                  </m:r>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0,</m:t>
                  </m:r>
                  <m:r>
                    <a:rPr xmlns:a="http://schemas.openxmlformats.org/drawingml/2006/main" sz="1100" i="1">
                      <a:solidFill>
                        <a:srgbClr val="000000"/>
                      </a:solidFill>
                      <a:latin typeface="Cambria Math" panose="02040503050406030204" pitchFamily="18" charset="0"/>
                    </a:rPr>
                    <m:t>∥</m:t>
                  </m:r>
                  <m:sSub>
                    <m:e>
                      <m:r>
                        <m:rPr>
                          <m:sty m:val="b"/>
                        </m:rPr>
                        <a:rPr xmlns:a="http://schemas.openxmlformats.org/drawingml/2006/main" sz="1100" i="1">
                          <a:solidFill>
                            <a:srgbClr val="000000"/>
                          </a:solidFill>
                          <a:latin typeface="Cambria Math" panose="02040503050406030204" pitchFamily="18" charset="0"/>
                        </a:rPr>
                        <m:t>W</m:t>
                      </m:r>
                    </m:e>
                    <m:sub>
                      <m:r>
                        <m:rPr>
                          <m:sty m:val="p"/>
                        </m:rPr>
                        <a:rPr xmlns:a="http://schemas.openxmlformats.org/drawingml/2006/main" sz="1100" i="1">
                          <a:solidFill>
                            <a:srgbClr val="000000"/>
                          </a:solidFill>
                          <a:latin typeface="Cambria Math" panose="02040503050406030204" pitchFamily="18" charset="0"/>
                        </a:rPr>
                        <m:t>emb</m:t>
                      </m:r>
                    </m:sub>
                  </m:sSub>
                  <m:sSub>
                    <m:e>
                      <m:r>
                        <a:rPr xmlns:a="http://schemas.openxmlformats.org/drawingml/2006/main" sz="1100" i="1">
                          <a:solidFill>
                            <a:srgbClr val="000000"/>
                          </a:solidFill>
                          <a:latin typeface="Cambria Math" panose="02040503050406030204" pitchFamily="18" charset="0"/>
                        </a:rPr>
                        <m:t>∥</m:t>
                      </m:r>
                    </m:e>
                    <m:sub>
                      <m:r>
                        <a:rPr xmlns:a="http://schemas.openxmlformats.org/drawingml/2006/main" sz="1100" i="1">
                          <a:solidFill>
                            <a:srgbClr val="000000"/>
                          </a:solidFill>
                          <a:latin typeface="Cambria Math" panose="02040503050406030204" pitchFamily="18" charset="0"/>
                        </a:rPr>
                        <m:t>σ</m:t>
                      </m:r>
                    </m:sub>
                  </m:sSub>
                  <m:r>
                    <a:rPr xmlns:a="http://schemas.openxmlformats.org/drawingml/2006/main" sz="1100" i="1">
                      <a:solidFill>
                        <a:srgbClr val="000000"/>
                      </a:solidFill>
                      <a:latin typeface="Cambria Math" panose="02040503050406030204" pitchFamily="18" charset="0"/>
                    </a:rPr>
                    <m:t>-</m:t>
                  </m:r>
                  <m:r>
                    <a:rPr xmlns:a="http://schemas.openxmlformats.org/drawingml/2006/main" sz="1100" i="1">
                      <a:solidFill>
                        <a:srgbClr val="000000"/>
                      </a:solidFill>
                      <a:latin typeface="Cambria Math" panose="02040503050406030204" pitchFamily="18" charset="0"/>
                    </a:rPr>
                    <m:t>κ</m:t>
                  </m:r>
                  <m:sSup>
                    <m:e>
                      <m:r>
                        <a:rPr xmlns:a="http://schemas.openxmlformats.org/drawingml/2006/main" sz="1100" i="1">
                          <a:solidFill>
                            <a:srgbClr val="000000"/>
                          </a:solidFill>
                          <a:latin typeface="Cambria Math" panose="02040503050406030204" pitchFamily="18" charset="0"/>
                        </a:rPr>
                        <m:t>)</m:t>
                      </m:r>
                    </m:e>
                    <m:sup>
                      <m:r>
                        <a:rPr xmlns:a="http://schemas.openxmlformats.org/drawingml/2006/main" sz="1100" i="1">
                          <a:solidFill>
                            <a:srgbClr val="000000"/>
                          </a:solidFill>
                          <a:latin typeface="Cambria Math" panose="02040503050406030204" pitchFamily="18" charset="0"/>
                        </a:rPr>
                        <m:t>2</m:t>
                      </m:r>
                    </m:sup>
                  </m:sSup>
                </m:oMath>
              </m:oMathPara>
            </a14:m>
            <a:endParaRPr sz="1100"/>
          </a:p>
        </p:txBody>
      </p:sp>
      <p:sp>
        <p:nvSpPr>
          <p:cNvPr id="173"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175"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CDML EXTENSIONS AND HYBRID METHODS</a:t>
            </a:r>
          </a:p>
        </p:txBody>
      </p:sp>
      <p:sp>
        <p:nvSpPr>
          <p:cNvPr id="176"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Privacy &amp; Backdoor Trade-offs (WU Gait)</a:t>
            </a:r>
          </a:p>
        </p:txBody>
      </p:sp>
      <p:graphicFrame>
        <p:nvGraphicFramePr>
          <p:cNvPr id="177" name="Table 0"/>
          <p:cNvGraphicFramePr/>
          <p:nvPr/>
        </p:nvGraphicFramePr>
        <p:xfrm>
          <a:off x="548640" y="1463039"/>
          <a:ext cx="11064241" cy="246888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834640"/>
                <a:gridCol w="2057400"/>
                <a:gridCol w="2057400"/>
                <a:gridCol w="2057400"/>
                <a:gridCol w="2057400"/>
              </a:tblGrid>
              <a:tr h="411480">
                <a:tc>
                  <a:txBody>
                    <a:bodyPr/>
                    <a:lstStyle/>
                    <a:p>
                      <a:pPr algn="l">
                        <a:defRPr sz="1800"/>
                      </a:pPr>
                      <a:r>
                        <a:rPr b="1" sz="1200">
                          <a:solidFill>
                            <a:srgbClr val="FFFFFF"/>
                          </a:solidFill>
                        </a:rPr>
                        <a:t>Method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Accuracy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IIA (no-seed)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FSI</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Backdoor ASR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11480">
                <a:tc>
                  <a:txBody>
                    <a:bodyPr/>
                    <a:lstStyle/>
                    <a:p>
                      <a:pPr algn="l">
                        <a:defRPr sz="1800"/>
                      </a:pPr>
                      <a:r>
                        <a:rPr b="1" sz="1200">
                          <a:solidFill>
                            <a:srgbClr val="1B2A4A"/>
                          </a:solidFill>
                        </a:rPr>
                        <a:t>Std 15% (replay)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87.7%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51.1%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90.3%</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42.9%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11480">
                <a:tc>
                  <a:txBody>
                    <a:bodyPr/>
                    <a:lstStyle/>
                    <a:p>
                      <a:pPr algn="l">
                        <a:defRPr sz="1800"/>
                      </a:pPr>
                      <a:r>
                        <a:rPr b="1" sz="1200">
                          <a:solidFill>
                            <a:srgbClr val="1B2A4A"/>
                          </a:solidFill>
                        </a:rPr>
                        <a:t>CDML</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73.9%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48.7%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1.6%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3.2%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11480">
                <a:tc>
                  <a:txBody>
                    <a:bodyPr/>
                    <a:lstStyle/>
                    <a:p>
                      <a:pPr algn="l">
                        <a:defRPr sz="1800"/>
                      </a:pPr>
                      <a:r>
                        <a:rPr b="1" sz="1200">
                          <a:solidFill>
                            <a:srgbClr val="1B2A4A"/>
                          </a:solidFill>
                        </a:rPr>
                        <a:t>CDML+KD</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84.9%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51.0%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0.4%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36.1%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11480">
                <a:tc>
                  <a:txBody>
                    <a:bodyPr/>
                    <a:lstStyle/>
                    <a:p>
                      <a:pPr algn="l">
                        <a:defRPr sz="1800"/>
                      </a:pPr>
                      <a:r>
                        <a:rPr b="1" sz="1200">
                          <a:solidFill>
                            <a:srgbClr val="1B2A4A"/>
                          </a:solidFill>
                        </a:rPr>
                        <a:t>WGR-CDML</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74.9%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44.8%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2.2%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2.8%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11480">
                <a:tc>
                  <a:txBody>
                    <a:bodyPr/>
                    <a:lstStyle/>
                    <a:p>
                      <a:pPr algn="l">
                        <a:defRPr sz="1800"/>
                      </a:pPr>
                      <a:r>
                        <a:rPr b="1" sz="1200">
                          <a:solidFill>
                            <a:srgbClr val="1B2A4A"/>
                          </a:solidFill>
                        </a:rPr>
                        <a:t>LiDER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77.9%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47.6%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3.2%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50.4%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bl>
          </a:graphicData>
        </a:graphic>
      </p:graphicFrame>
      <p:sp>
        <p:nvSpPr>
          <p:cNvPr id="178" name="Shape 2"/>
          <p:cNvSpPr/>
          <p:nvPr/>
        </p:nvSpPr>
        <p:spPr>
          <a:xfrm>
            <a:off x="548640" y="4160520"/>
            <a:ext cx="11064241" cy="594361"/>
          </a:xfrm>
          <a:prstGeom prst="roundRect">
            <a:avLst>
              <a:gd name="adj" fmla="val 12308"/>
            </a:avLst>
          </a:prstGeom>
          <a:solidFill>
            <a:srgbClr val="FBE9D6"/>
          </a:solidFill>
          <a:ln w="12700">
            <a:solidFill>
              <a:srgbClr val="C97A2E"/>
            </a:solidFill>
          </a:ln>
        </p:spPr>
        <p:txBody>
          <a:bodyPr lIns="45719" rIns="45719"/>
          <a:lstStyle/>
          <a:p>
            <a:pPr/>
          </a:p>
        </p:txBody>
      </p:sp>
      <p:sp>
        <p:nvSpPr>
          <p:cNvPr id="179" name="Text 3"/>
          <p:cNvSpPr txBox="1"/>
          <p:nvPr/>
        </p:nvSpPr>
        <p:spPr>
          <a:xfrm>
            <a:off x="960119" y="4328599"/>
            <a:ext cx="10241282"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1B2A4A"/>
                </a:solidFill>
              </a:defRPr>
            </a:pPr>
            <a:r>
              <a:t>Best overall balance: </a:t>
            </a:r>
            <a:r>
              <a:rPr>
                <a:solidFill>
                  <a:srgbClr val="C97A2E"/>
                </a:solidFill>
              </a:rPr>
              <a:t>WGR-CDML</a:t>
            </a:r>
            <a:r>
              <a:rPr b="0"/>
              <a:t> — strong accuracy, no raw data retained and good privacy resilience against all the attacks</a:t>
            </a:r>
          </a:p>
        </p:txBody>
      </p:sp>
      <p:sp>
        <p:nvSpPr>
          <p:cNvPr id="180" name="Shape 4"/>
          <p:cNvSpPr/>
          <p:nvPr/>
        </p:nvSpPr>
        <p:spPr>
          <a:xfrm>
            <a:off x="548640" y="4937759"/>
            <a:ext cx="5349241" cy="1417321"/>
          </a:xfrm>
          <a:prstGeom prst="roundRect">
            <a:avLst>
              <a:gd name="adj" fmla="val 6452"/>
            </a:avLst>
          </a:prstGeom>
          <a:solidFill>
            <a:srgbClr val="E7ECF5"/>
          </a:solidFill>
          <a:ln w="12700">
            <a:solidFill>
              <a:srgbClr val="B33A3A"/>
            </a:solidFill>
          </a:ln>
        </p:spPr>
        <p:txBody>
          <a:bodyPr lIns="45719" rIns="45719"/>
          <a:lstStyle/>
          <a:p>
            <a:pPr/>
          </a:p>
        </p:txBody>
      </p:sp>
      <p:sp>
        <p:nvSpPr>
          <p:cNvPr id="181" name="Text 5"/>
          <p:cNvSpPr txBox="1"/>
          <p:nvPr/>
        </p:nvSpPr>
        <p:spPr>
          <a:xfrm>
            <a:off x="868680" y="5312717"/>
            <a:ext cx="4754880" cy="667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LiDER: Replay Buffer Leaks</a:t>
            </a:r>
          </a:p>
          <a:p>
            <a:pPr>
              <a:defRPr sz="1200">
                <a:solidFill>
                  <a:srgbClr val="1B2A4A"/>
                </a:solidFill>
              </a:defRPr>
            </a:pPr>
            <a:r>
              <a:t>HighWU Gait accuracy (77.9%), but the 10% raw-replay buffer carries poisoned windows forward — worst backdoor ASR of any method (50.4%).</a:t>
            </a:r>
          </a:p>
        </p:txBody>
      </p:sp>
      <p:sp>
        <p:nvSpPr>
          <p:cNvPr id="182" name="Shape 6"/>
          <p:cNvSpPr/>
          <p:nvPr/>
        </p:nvSpPr>
        <p:spPr>
          <a:xfrm>
            <a:off x="6080759" y="4937759"/>
            <a:ext cx="5532121" cy="1417321"/>
          </a:xfrm>
          <a:prstGeom prst="roundRect">
            <a:avLst>
              <a:gd name="adj" fmla="val 6452"/>
            </a:avLst>
          </a:prstGeom>
          <a:solidFill>
            <a:srgbClr val="E7ECF5"/>
          </a:solidFill>
          <a:ln w="12700">
            <a:solidFill>
              <a:srgbClr val="B33A3A"/>
            </a:solidFill>
          </a:ln>
        </p:spPr>
        <p:txBody>
          <a:bodyPr lIns="45719" rIns="45719"/>
          <a:lstStyle/>
          <a:p>
            <a:pPr/>
          </a:p>
        </p:txBody>
      </p:sp>
      <p:sp>
        <p:nvSpPr>
          <p:cNvPr id="183" name="Text 7"/>
          <p:cNvSpPr txBox="1"/>
          <p:nvPr/>
        </p:nvSpPr>
        <p:spPr>
          <a:xfrm>
            <a:off x="6400800" y="5312717"/>
            <a:ext cx="4937760" cy="667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CDML+KD: Distillation Chain Leaks</a:t>
            </a:r>
          </a:p>
          <a:p>
            <a:pPr>
              <a:defRPr sz="1200">
                <a:solidFill>
                  <a:srgbClr val="1B2A4A"/>
                </a:solidFill>
              </a:defRPr>
            </a:pPr>
            <a:r>
              <a:t>Helps smaller datasets (UCI HAR), but the distillation buffer propagates a poisoned Task 3 forward — 36.1% ASR on WU Gait.</a:t>
            </a:r>
          </a:p>
        </p:txBody>
      </p:sp>
      <p:pic>
        <p:nvPicPr>
          <p:cNvPr id="184"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185"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187"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LORA FOR CONTINUAL GAIT IDENTIFICATION</a:t>
            </a:r>
          </a:p>
        </p:txBody>
      </p:sp>
      <p:sp>
        <p:nvSpPr>
          <p:cNvPr id="188"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Frozen Backbone + Per-Task Adapters = Zero Forgetting</a:t>
            </a:r>
          </a:p>
        </p:txBody>
      </p:sp>
      <p:sp>
        <p:nvSpPr>
          <p:cNvPr id="189" name="Text 2"/>
          <p:cNvSpPr txBox="1"/>
          <p:nvPr/>
        </p:nvSpPr>
        <p:spPr>
          <a:xfrm>
            <a:off x="594359" y="1453187"/>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1B2A4A"/>
                </a:solidFill>
              </a:defRPr>
            </a:lvl1pPr>
          </a:lstStyle>
          <a:p>
            <a:pPr/>
            <a:r>
              <a:t>After Task 1, the CNN backbone and base weights are frozen forever. Each new task gets its own small rank-8 adapter pair for the embedding and classifier layers.</a:t>
            </a:r>
          </a:p>
        </p:txBody>
      </p:sp>
      <p:sp>
        <p:nvSpPr>
          <p:cNvPr id="190" name="Shape 3"/>
          <p:cNvSpPr/>
          <p:nvPr/>
        </p:nvSpPr>
        <p:spPr>
          <a:xfrm>
            <a:off x="548640" y="1874520"/>
            <a:ext cx="1600201" cy="868681"/>
          </a:xfrm>
          <a:prstGeom prst="roundRect">
            <a:avLst>
              <a:gd name="adj" fmla="val 8421"/>
            </a:avLst>
          </a:prstGeom>
          <a:solidFill>
            <a:srgbClr val="E7ECF5"/>
          </a:solidFill>
          <a:ln w="12700">
            <a:solidFill>
              <a:srgbClr val="E7ECF5"/>
            </a:solidFill>
          </a:ln>
        </p:spPr>
        <p:txBody>
          <a:bodyPr lIns="45719" rIns="45719"/>
          <a:lstStyle/>
          <a:p>
            <a:pPr/>
          </a:p>
        </p:txBody>
      </p:sp>
      <p:sp>
        <p:nvSpPr>
          <p:cNvPr id="191" name="Text 4"/>
          <p:cNvSpPr txBox="1"/>
          <p:nvPr/>
        </p:nvSpPr>
        <p:spPr>
          <a:xfrm>
            <a:off x="594359" y="2112054"/>
            <a:ext cx="1508762"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1B2A4A"/>
                </a:solidFill>
              </a:defRPr>
            </a:pPr>
            <a:r>
              <a:t>Input</a:t>
            </a:r>
          </a:p>
          <a:p>
            <a:pPr algn="ctr">
              <a:defRPr b="1" sz="1000">
                <a:solidFill>
                  <a:srgbClr val="1B2A4A"/>
                </a:solidFill>
              </a:defRPr>
            </a:pPr>
            <a:r>
              <a:t>6×W</a:t>
            </a:r>
          </a:p>
        </p:txBody>
      </p:sp>
      <p:sp>
        <p:nvSpPr>
          <p:cNvPr id="192" name="Shape 5"/>
          <p:cNvSpPr/>
          <p:nvPr/>
        </p:nvSpPr>
        <p:spPr>
          <a:xfrm>
            <a:off x="2148839" y="2308860"/>
            <a:ext cx="228601" cy="1"/>
          </a:xfrm>
          <a:prstGeom prst="line">
            <a:avLst/>
          </a:prstGeom>
          <a:ln w="19050">
            <a:solidFill>
              <a:srgbClr val="1B2A4A"/>
            </a:solidFill>
            <a:tailEnd type="triangle"/>
          </a:ln>
        </p:spPr>
        <p:txBody>
          <a:bodyPr lIns="45719" rIns="45719"/>
          <a:lstStyle/>
          <a:p>
            <a:pPr/>
          </a:p>
        </p:txBody>
      </p:sp>
      <p:sp>
        <p:nvSpPr>
          <p:cNvPr id="193" name="Shape 6"/>
          <p:cNvSpPr/>
          <p:nvPr/>
        </p:nvSpPr>
        <p:spPr>
          <a:xfrm>
            <a:off x="2377439" y="1874520"/>
            <a:ext cx="1600201" cy="868681"/>
          </a:xfrm>
          <a:prstGeom prst="roundRect">
            <a:avLst>
              <a:gd name="adj" fmla="val 8421"/>
            </a:avLst>
          </a:prstGeom>
          <a:solidFill>
            <a:srgbClr val="0A6E8C"/>
          </a:solidFill>
          <a:ln w="12700">
            <a:solidFill>
              <a:srgbClr val="0A6E8C"/>
            </a:solidFill>
          </a:ln>
        </p:spPr>
        <p:txBody>
          <a:bodyPr lIns="45719" rIns="45719"/>
          <a:lstStyle/>
          <a:p>
            <a:pPr/>
          </a:p>
        </p:txBody>
      </p:sp>
      <p:sp>
        <p:nvSpPr>
          <p:cNvPr id="194" name="Text 7"/>
          <p:cNvSpPr txBox="1"/>
          <p:nvPr/>
        </p:nvSpPr>
        <p:spPr>
          <a:xfrm>
            <a:off x="2423160" y="2112054"/>
            <a:ext cx="150876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FFFFFF"/>
                </a:solidFill>
              </a:defRPr>
            </a:pPr>
            <a:r>
              <a:t>CNN Backbone</a:t>
            </a:r>
          </a:p>
          <a:p>
            <a:pPr algn="ctr">
              <a:defRPr b="1" sz="1000">
                <a:solidFill>
                  <a:srgbClr val="FFFFFF"/>
                </a:solidFill>
              </a:defRPr>
            </a:pPr>
            <a:r>
              <a:t>(frozen after T1)</a:t>
            </a:r>
          </a:p>
        </p:txBody>
      </p:sp>
      <p:sp>
        <p:nvSpPr>
          <p:cNvPr id="195" name="Shape 8"/>
          <p:cNvSpPr/>
          <p:nvPr/>
        </p:nvSpPr>
        <p:spPr>
          <a:xfrm>
            <a:off x="3977640" y="2308860"/>
            <a:ext cx="228601" cy="1"/>
          </a:xfrm>
          <a:prstGeom prst="line">
            <a:avLst/>
          </a:prstGeom>
          <a:ln w="19050">
            <a:solidFill>
              <a:srgbClr val="1B2A4A"/>
            </a:solidFill>
            <a:tailEnd type="triangle"/>
          </a:ln>
        </p:spPr>
        <p:txBody>
          <a:bodyPr lIns="45719" rIns="45719"/>
          <a:lstStyle/>
          <a:p>
            <a:pPr/>
          </a:p>
        </p:txBody>
      </p:sp>
      <p:sp>
        <p:nvSpPr>
          <p:cNvPr id="196" name="Shape 9"/>
          <p:cNvSpPr/>
          <p:nvPr/>
        </p:nvSpPr>
        <p:spPr>
          <a:xfrm>
            <a:off x="4206240" y="1874520"/>
            <a:ext cx="1600201" cy="868681"/>
          </a:xfrm>
          <a:prstGeom prst="roundRect">
            <a:avLst>
              <a:gd name="adj" fmla="val 8421"/>
            </a:avLst>
          </a:prstGeom>
          <a:solidFill>
            <a:srgbClr val="1C7293"/>
          </a:solidFill>
          <a:ln w="12700">
            <a:solidFill>
              <a:srgbClr val="1C7293"/>
            </a:solidFill>
          </a:ln>
        </p:spPr>
        <p:txBody>
          <a:bodyPr lIns="45719" rIns="45719"/>
          <a:lstStyle/>
          <a:p>
            <a:pPr/>
          </a:p>
        </p:txBody>
      </p:sp>
      <p:sp>
        <p:nvSpPr>
          <p:cNvPr id="197" name="Text 10"/>
          <p:cNvSpPr txBox="1"/>
          <p:nvPr/>
        </p:nvSpPr>
        <p:spPr>
          <a:xfrm>
            <a:off x="4251960" y="2102622"/>
            <a:ext cx="1508761" cy="4124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FFFFFF"/>
                </a:solidFill>
              </a:defRPr>
            </a:pPr>
            <a:r>
              <a:t>Embed + LoRA</a:t>
            </a:r>
          </a:p>
          <a:p>
            <a:pPr algn="ctr">
              <a:defRPr b="1" sz="1000">
                <a:solidFill>
                  <a:srgbClr val="FFFFFF"/>
                </a:solidFill>
              </a:defRPr>
            </a:pPr>
            <a:r>
              <a:t>Aₖᵉ,Bₖᵉ (r=8)</a:t>
            </a:r>
          </a:p>
        </p:txBody>
      </p:sp>
      <p:sp>
        <p:nvSpPr>
          <p:cNvPr id="198" name="Shape 11"/>
          <p:cNvSpPr/>
          <p:nvPr/>
        </p:nvSpPr>
        <p:spPr>
          <a:xfrm>
            <a:off x="5806440" y="2308860"/>
            <a:ext cx="228601" cy="1"/>
          </a:xfrm>
          <a:prstGeom prst="line">
            <a:avLst/>
          </a:prstGeom>
          <a:ln w="19050">
            <a:solidFill>
              <a:srgbClr val="1C7293"/>
            </a:solidFill>
            <a:prstDash val="dash"/>
            <a:tailEnd type="triangle"/>
          </a:ln>
        </p:spPr>
        <p:txBody>
          <a:bodyPr lIns="45719" rIns="45719"/>
          <a:lstStyle/>
          <a:p>
            <a:pPr/>
          </a:p>
        </p:txBody>
      </p:sp>
      <p:sp>
        <p:nvSpPr>
          <p:cNvPr id="199" name="Shape 12"/>
          <p:cNvSpPr/>
          <p:nvPr/>
        </p:nvSpPr>
        <p:spPr>
          <a:xfrm>
            <a:off x="6035040" y="1874520"/>
            <a:ext cx="1600201" cy="868681"/>
          </a:xfrm>
          <a:prstGeom prst="roundRect">
            <a:avLst>
              <a:gd name="adj" fmla="val 8421"/>
            </a:avLst>
          </a:prstGeom>
          <a:solidFill>
            <a:srgbClr val="F5F8FC"/>
          </a:solidFill>
          <a:ln w="19050">
            <a:solidFill>
              <a:srgbClr val="1C7293"/>
            </a:solidFill>
            <a:prstDash val="dash"/>
          </a:ln>
        </p:spPr>
        <p:txBody>
          <a:bodyPr lIns="45719" rIns="45719"/>
          <a:lstStyle/>
          <a:p>
            <a:pPr/>
          </a:p>
        </p:txBody>
      </p:sp>
      <p:sp>
        <p:nvSpPr>
          <p:cNvPr id="200" name="Text 13"/>
          <p:cNvSpPr txBox="1"/>
          <p:nvPr/>
        </p:nvSpPr>
        <p:spPr>
          <a:xfrm>
            <a:off x="6080760" y="2102622"/>
            <a:ext cx="1508761" cy="4124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1C7293"/>
                </a:solidFill>
              </a:defRPr>
            </a:pPr>
            <a:r>
              <a:t>CDML (optional)</a:t>
            </a:r>
          </a:p>
          <a:p>
            <a:pPr algn="ctr">
              <a:defRPr b="1" sz="1000">
                <a:solidFill>
                  <a:srgbClr val="1C7293"/>
                </a:solidFill>
              </a:defRPr>
            </a:pPr>
            <a:r>
              <a:t>h ⊙ sₖ</a:t>
            </a:r>
          </a:p>
        </p:txBody>
      </p:sp>
      <p:sp>
        <p:nvSpPr>
          <p:cNvPr id="201" name="Shape 14"/>
          <p:cNvSpPr/>
          <p:nvPr/>
        </p:nvSpPr>
        <p:spPr>
          <a:xfrm>
            <a:off x="7635240" y="2308860"/>
            <a:ext cx="228601" cy="1"/>
          </a:xfrm>
          <a:prstGeom prst="line">
            <a:avLst/>
          </a:prstGeom>
          <a:ln w="19050">
            <a:solidFill>
              <a:srgbClr val="1C7293"/>
            </a:solidFill>
            <a:prstDash val="dash"/>
            <a:tailEnd type="triangle"/>
          </a:ln>
        </p:spPr>
        <p:txBody>
          <a:bodyPr lIns="45719" rIns="45719"/>
          <a:lstStyle/>
          <a:p>
            <a:pPr/>
          </a:p>
        </p:txBody>
      </p:sp>
      <p:sp>
        <p:nvSpPr>
          <p:cNvPr id="202" name="Shape 15"/>
          <p:cNvSpPr/>
          <p:nvPr/>
        </p:nvSpPr>
        <p:spPr>
          <a:xfrm>
            <a:off x="7863840" y="1874520"/>
            <a:ext cx="1600201" cy="868681"/>
          </a:xfrm>
          <a:prstGeom prst="roundRect">
            <a:avLst>
              <a:gd name="adj" fmla="val 8421"/>
            </a:avLst>
          </a:prstGeom>
          <a:solidFill>
            <a:srgbClr val="1C7293"/>
          </a:solidFill>
          <a:ln w="12700">
            <a:solidFill>
              <a:srgbClr val="1C7293"/>
            </a:solidFill>
          </a:ln>
        </p:spPr>
        <p:txBody>
          <a:bodyPr lIns="45719" rIns="45719"/>
          <a:lstStyle/>
          <a:p>
            <a:pPr/>
          </a:p>
        </p:txBody>
      </p:sp>
      <p:sp>
        <p:nvSpPr>
          <p:cNvPr id="203" name="Text 16"/>
          <p:cNvSpPr txBox="1"/>
          <p:nvPr/>
        </p:nvSpPr>
        <p:spPr>
          <a:xfrm>
            <a:off x="7909559" y="2102622"/>
            <a:ext cx="1508761" cy="4124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FFFFFF"/>
                </a:solidFill>
              </a:defRPr>
            </a:pPr>
            <a:r>
              <a:t>Classifier + LoRA</a:t>
            </a:r>
          </a:p>
          <a:p>
            <a:pPr algn="ctr">
              <a:defRPr b="1" sz="1000">
                <a:solidFill>
                  <a:srgbClr val="FFFFFF"/>
                </a:solidFill>
              </a:defRPr>
            </a:pPr>
            <a:r>
              <a:t>Aₖᶜ,Bₖᶜ (r=8)</a:t>
            </a:r>
          </a:p>
        </p:txBody>
      </p:sp>
      <p:sp>
        <p:nvSpPr>
          <p:cNvPr id="204" name="Shape 17"/>
          <p:cNvSpPr/>
          <p:nvPr/>
        </p:nvSpPr>
        <p:spPr>
          <a:xfrm>
            <a:off x="9464040" y="2308860"/>
            <a:ext cx="228601" cy="1"/>
          </a:xfrm>
          <a:prstGeom prst="line">
            <a:avLst/>
          </a:prstGeom>
          <a:ln w="19050">
            <a:solidFill>
              <a:srgbClr val="1B2A4A"/>
            </a:solidFill>
            <a:tailEnd type="triangle"/>
          </a:ln>
        </p:spPr>
        <p:txBody>
          <a:bodyPr lIns="45719" rIns="45719"/>
          <a:lstStyle/>
          <a:p>
            <a:pPr/>
          </a:p>
        </p:txBody>
      </p:sp>
      <p:sp>
        <p:nvSpPr>
          <p:cNvPr id="205" name="Shape 18"/>
          <p:cNvSpPr/>
          <p:nvPr/>
        </p:nvSpPr>
        <p:spPr>
          <a:xfrm>
            <a:off x="9692640" y="1874520"/>
            <a:ext cx="1600201" cy="868681"/>
          </a:xfrm>
          <a:prstGeom prst="roundRect">
            <a:avLst>
              <a:gd name="adj" fmla="val 8421"/>
            </a:avLst>
          </a:prstGeom>
          <a:solidFill>
            <a:srgbClr val="1B2A4A"/>
          </a:solidFill>
          <a:ln w="12700">
            <a:solidFill>
              <a:srgbClr val="1B2A4A"/>
            </a:solidFill>
          </a:ln>
        </p:spPr>
        <p:txBody>
          <a:bodyPr lIns="45719" rIns="45719"/>
          <a:lstStyle/>
          <a:p>
            <a:pPr/>
          </a:p>
        </p:txBody>
      </p:sp>
      <p:sp>
        <p:nvSpPr>
          <p:cNvPr id="206" name="Text 19"/>
          <p:cNvSpPr txBox="1"/>
          <p:nvPr/>
        </p:nvSpPr>
        <p:spPr>
          <a:xfrm>
            <a:off x="9738359" y="2112054"/>
            <a:ext cx="150876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FFFFFF"/>
                </a:solidFill>
              </a:defRPr>
            </a:pPr>
            <a:r>
              <a:t>Output</a:t>
            </a:r>
          </a:p>
          <a:p>
            <a:pPr algn="ctr">
              <a:defRPr b="1" sz="1000">
                <a:solidFill>
                  <a:srgbClr val="FFFFFF"/>
                </a:solidFill>
              </a:defRPr>
            </a:pPr>
            <a:r>
              <a:t>ŷ</a:t>
            </a:r>
          </a:p>
        </p:txBody>
      </p:sp>
      <p:sp>
        <p:nvSpPr>
          <p:cNvPr id="207" name="Shape 20"/>
          <p:cNvSpPr/>
          <p:nvPr/>
        </p:nvSpPr>
        <p:spPr>
          <a:xfrm>
            <a:off x="548640" y="3108960"/>
            <a:ext cx="5120641" cy="777241"/>
          </a:xfrm>
          <a:prstGeom prst="roundRect">
            <a:avLst>
              <a:gd name="adj" fmla="val 9412"/>
            </a:avLst>
          </a:prstGeom>
          <a:solidFill>
            <a:srgbClr val="E7ECF5"/>
          </a:solidFill>
          <a:ln w="12700">
            <a:solidFill>
              <a:srgbClr val="1B2A4A"/>
            </a:solidFill>
          </a:ln>
        </p:spPr>
        <p:txBody>
          <a:bodyPr lIns="45719" rIns="45719"/>
          <a:lstStyle/>
          <a:p>
            <a:pPr/>
          </a:p>
        </p:txBody>
      </p:sp>
      <p:sp>
        <p:nvSpPr>
          <p:cNvPr id="208" name="Text 21"/>
          <p:cNvSpPr txBox="1"/>
          <p:nvPr/>
        </p:nvSpPr>
        <p:spPr>
          <a:xfrm>
            <a:off x="868680" y="3259127"/>
            <a:ext cx="4480560" cy="4769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1. Freeze (after T1)</a:t>
            </a:r>
          </a:p>
          <a:p>
            <a:pPr>
              <a:defRPr sz="1200">
                <a:solidFill>
                  <a:srgbClr val="1B2A4A"/>
                </a:solidFill>
              </a:defRPr>
            </a:pPr>
            <a:r>
              <a:t>CNN backbone + base weights Wₑ, W_c locked forever</a:t>
            </a:r>
          </a:p>
        </p:txBody>
      </p:sp>
      <p:sp>
        <p:nvSpPr>
          <p:cNvPr id="209" name="Shape 22"/>
          <p:cNvSpPr/>
          <p:nvPr/>
        </p:nvSpPr>
        <p:spPr>
          <a:xfrm>
            <a:off x="548640" y="3977640"/>
            <a:ext cx="5120641" cy="777241"/>
          </a:xfrm>
          <a:prstGeom prst="roundRect">
            <a:avLst>
              <a:gd name="adj" fmla="val 9412"/>
            </a:avLst>
          </a:prstGeom>
          <a:solidFill>
            <a:srgbClr val="E7ECF5"/>
          </a:solidFill>
          <a:ln w="12700">
            <a:solidFill>
              <a:srgbClr val="1B2A4A"/>
            </a:solidFill>
          </a:ln>
        </p:spPr>
        <p:txBody>
          <a:bodyPr lIns="45719" rIns="45719"/>
          <a:lstStyle/>
          <a:p>
            <a:pPr/>
          </a:p>
        </p:txBody>
      </p:sp>
      <p:sp>
        <p:nvSpPr>
          <p:cNvPr id="210" name="Text 23"/>
          <p:cNvSpPr txBox="1"/>
          <p:nvPr/>
        </p:nvSpPr>
        <p:spPr>
          <a:xfrm>
            <a:off x="868680" y="4115219"/>
            <a:ext cx="4480560" cy="50208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2. Adapt (per task)</a:t>
            </a:r>
          </a:p>
          <a:p>
            <a:pPr>
              <a:defRPr sz="1200">
                <a:solidFill>
                  <a:srgbClr val="1B2A4A"/>
                </a:solidFill>
              </a:defRPr>
            </a:pPr>
            <a:r>
              <a:t>Rank-8 pair (Aₖ, Bₖ) trained for the embedding + classifier layers only</a:t>
            </a:r>
          </a:p>
        </p:txBody>
      </p:sp>
      <p:sp>
        <p:nvSpPr>
          <p:cNvPr id="211" name="Shape 24"/>
          <p:cNvSpPr/>
          <p:nvPr/>
        </p:nvSpPr>
        <p:spPr>
          <a:xfrm>
            <a:off x="548640" y="4846320"/>
            <a:ext cx="5120641" cy="777241"/>
          </a:xfrm>
          <a:prstGeom prst="roundRect">
            <a:avLst>
              <a:gd name="adj" fmla="val 9412"/>
            </a:avLst>
          </a:prstGeom>
          <a:solidFill>
            <a:srgbClr val="E7ECF5"/>
          </a:solidFill>
          <a:ln w="12700">
            <a:solidFill>
              <a:srgbClr val="1B2A4A"/>
            </a:solidFill>
          </a:ln>
        </p:spPr>
        <p:txBody>
          <a:bodyPr lIns="45719" rIns="45719"/>
          <a:lstStyle/>
          <a:p>
            <a:pPr/>
          </a:p>
        </p:txBody>
      </p:sp>
      <p:sp>
        <p:nvSpPr>
          <p:cNvPr id="212" name="Text 25"/>
          <p:cNvSpPr txBox="1"/>
          <p:nvPr/>
        </p:nvSpPr>
        <p:spPr>
          <a:xfrm>
            <a:off x="868680" y="4996487"/>
            <a:ext cx="4480560" cy="4769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3. Restore (at inference)</a:t>
            </a:r>
          </a:p>
          <a:p>
            <a:pPr>
              <a:defRPr sz="1200">
                <a:solidFill>
                  <a:srgbClr val="1B2A4A"/>
                </a:solidFill>
              </a:defRPr>
            </a:pPr>
            <a:r>
              <a:t>Load task k's saved adapter — full isolation, no cross-task interference</a:t>
            </a:r>
          </a:p>
        </p:txBody>
      </p:sp>
      <p:sp>
        <p:nvSpPr>
          <p:cNvPr id="213" name="Text 26"/>
          <p:cNvSpPr txBox="1"/>
          <p:nvPr/>
        </p:nvSpPr>
        <p:spPr>
          <a:xfrm>
            <a:off x="594359" y="5876466"/>
            <a:ext cx="1097280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1B2A4A"/>
                </a:solidFill>
              </a:defRPr>
            </a:lvl1pPr>
          </a:lstStyle>
          <a:p>
            <a:pPr/>
            <a:r>
              <a:t>Zero forgetting is structural, not learned: Task 1's adapter is never modified after it is saved, so Task 1 accuracy is bit-for-bit identical at every later step.</a:t>
            </a:r>
          </a:p>
        </p:txBody>
      </p:sp>
      <p:pic>
        <p:nvPicPr>
          <p:cNvPr id="214" name="Screenshot 2026-07-23 alle 11.14.43.png" descr="Screenshot 2026-07-23 alle 11.14.43.png"/>
          <p:cNvPicPr>
            <a:picLocks noChangeAspect="1"/>
          </p:cNvPicPr>
          <p:nvPr/>
        </p:nvPicPr>
        <p:blipFill>
          <a:blip r:embed="rId2">
            <a:extLst/>
          </a:blip>
          <a:stretch>
            <a:fillRect/>
          </a:stretch>
        </p:blipFill>
        <p:spPr>
          <a:xfrm>
            <a:off x="6235731" y="2913052"/>
            <a:ext cx="5133341" cy="2912184"/>
          </a:xfrm>
          <a:prstGeom prst="rect">
            <a:avLst/>
          </a:prstGeom>
          <a:ln w="12700">
            <a:miter lim="400000"/>
          </a:ln>
        </p:spPr>
      </p:pic>
      <p:pic>
        <p:nvPicPr>
          <p:cNvPr id="215" name="logo-2.png" descr="logo-2.png"/>
          <p:cNvPicPr>
            <a:picLocks noChangeAspect="1"/>
          </p:cNvPicPr>
          <p:nvPr/>
        </p:nvPicPr>
        <p:blipFill>
          <a:blip r:embed="rId3">
            <a:extLst/>
          </a:blip>
          <a:stretch>
            <a:fillRect/>
          </a:stretch>
        </p:blipFill>
        <p:spPr>
          <a:xfrm>
            <a:off x="9928565" y="40834"/>
            <a:ext cx="2211422" cy="547622"/>
          </a:xfrm>
          <a:prstGeom prst="rect">
            <a:avLst/>
          </a:prstGeom>
          <a:ln w="12700">
            <a:miter lim="400000"/>
          </a:ln>
        </p:spPr>
      </p:pic>
      <p:sp>
        <p:nvSpPr>
          <p:cNvPr id="216"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18"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LORA FOR CONTINUAL GAIT IDENTIFICATION</a:t>
            </a:r>
          </a:p>
        </p:txBody>
      </p:sp>
      <p:sp>
        <p:nvSpPr>
          <p:cNvPr id="219"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CDML+LoRA: Zero Forgetting Plus Full Privacy</a:t>
            </a:r>
          </a:p>
        </p:txBody>
      </p:sp>
      <p:sp>
        <p:nvSpPr>
          <p:cNvPr id="220" name="Text 2"/>
          <p:cNvSpPr txBox="1"/>
          <p:nvPr/>
        </p:nvSpPr>
        <p:spPr>
          <a:xfrm>
            <a:off x="594359" y="1493958"/>
            <a:ext cx="1097280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Freezing the backbone (LoRA) and scrambling the embedding (CDML) solve forgetting and privacy independently. Combining them costs nothing on either axis.</a:t>
            </a:r>
          </a:p>
        </p:txBody>
      </p:sp>
      <p:sp>
        <p:nvSpPr>
          <p:cNvPr id="221" name="Shape 3"/>
          <p:cNvSpPr/>
          <p:nvPr/>
        </p:nvSpPr>
        <p:spPr>
          <a:xfrm>
            <a:off x="548640" y="5394959"/>
            <a:ext cx="11064241" cy="731521"/>
          </a:xfrm>
          <a:prstGeom prst="roundRect">
            <a:avLst>
              <a:gd name="adj" fmla="val 10000"/>
            </a:avLst>
          </a:prstGeom>
          <a:solidFill>
            <a:srgbClr val="FBE9D6"/>
          </a:solidFill>
          <a:ln w="12700">
            <a:solidFill>
              <a:srgbClr val="C97A2E"/>
            </a:solidFill>
          </a:ln>
        </p:spPr>
        <p:txBody>
          <a:bodyPr lIns="45719" rIns="45719"/>
          <a:lstStyle/>
          <a:p>
            <a:pPr/>
          </a:p>
        </p:txBody>
      </p:sp>
      <p:sp>
        <p:nvSpPr>
          <p:cNvPr id="222" name="Text 4"/>
          <p:cNvSpPr txBox="1"/>
          <p:nvPr/>
        </p:nvSpPr>
        <p:spPr>
          <a:xfrm>
            <a:off x="960119" y="5530018"/>
            <a:ext cx="10241282"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C97A2E"/>
                </a:solidFill>
              </a:defRPr>
            </a:pPr>
            <a:r>
              <a:t>CDML+LoRA</a:t>
            </a:r>
            <a:r>
              <a:rPr>
                <a:solidFill>
                  <a:srgbClr val="1B2A4A"/>
                </a:solidFill>
              </a:rPr>
              <a:t> is the first method to beat the 15% replay baseline (87.7% / 76.0% / 71.6%) on accuracy, on all three datasets, while keeping full privacy protection.</a:t>
            </a:r>
          </a:p>
        </p:txBody>
      </p:sp>
      <p:pic>
        <p:nvPicPr>
          <p:cNvPr id="223" name="Screenshot 2026-07-23 alle 11.15.24.png" descr="Screenshot 2026-07-23 alle 11.15.24.png"/>
          <p:cNvPicPr>
            <a:picLocks noChangeAspect="1"/>
          </p:cNvPicPr>
          <p:nvPr/>
        </p:nvPicPr>
        <p:blipFill>
          <a:blip r:embed="rId2">
            <a:extLst/>
          </a:blip>
          <a:stretch>
            <a:fillRect/>
          </a:stretch>
        </p:blipFill>
        <p:spPr>
          <a:xfrm>
            <a:off x="436436" y="1904626"/>
            <a:ext cx="11076941" cy="3331518"/>
          </a:xfrm>
          <a:prstGeom prst="rect">
            <a:avLst/>
          </a:prstGeom>
          <a:ln w="12700">
            <a:miter lim="400000"/>
          </a:ln>
        </p:spPr>
      </p:pic>
      <p:pic>
        <p:nvPicPr>
          <p:cNvPr id="224" name="logo-2.png" descr="logo-2.png"/>
          <p:cNvPicPr>
            <a:picLocks noChangeAspect="1"/>
          </p:cNvPicPr>
          <p:nvPr/>
        </p:nvPicPr>
        <p:blipFill>
          <a:blip r:embed="rId3">
            <a:extLst/>
          </a:blip>
          <a:stretch>
            <a:fillRect/>
          </a:stretch>
        </p:blipFill>
        <p:spPr>
          <a:xfrm>
            <a:off x="9928565" y="40834"/>
            <a:ext cx="2211422" cy="547622"/>
          </a:xfrm>
          <a:prstGeom prst="rect">
            <a:avLst/>
          </a:prstGeom>
          <a:ln w="12700">
            <a:miter lim="400000"/>
          </a:ln>
        </p:spPr>
      </p:pic>
      <p:sp>
        <p:nvSpPr>
          <p:cNvPr id="225"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27"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LORA FOR CONTINUAL GAIT IDENTIFICATION</a:t>
            </a:r>
          </a:p>
        </p:txBody>
      </p:sp>
      <p:sp>
        <p:nvSpPr>
          <p:cNvPr id="228"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LoRA Alone Leaks — CDML Closes the Gap</a:t>
            </a:r>
          </a:p>
        </p:txBody>
      </p:sp>
      <p:sp>
        <p:nvSpPr>
          <p:cNvPr id="229" name="Text 2"/>
          <p:cNvSpPr txBox="1"/>
          <p:nvPr/>
        </p:nvSpPr>
        <p:spPr>
          <a:xfrm>
            <a:off x="594359" y="1516819"/>
            <a:ext cx="1097280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LoRA's frozen backbone still carries Task 1's signature, and does nothing to hide embedding geometry. CDML fixes both by scrambling the representation itself.</a:t>
            </a:r>
          </a:p>
        </p:txBody>
      </p:sp>
      <p:graphicFrame>
        <p:nvGraphicFramePr>
          <p:cNvPr id="230" name="Table 0"/>
          <p:cNvGraphicFramePr/>
          <p:nvPr/>
        </p:nvGraphicFramePr>
        <p:xfrm>
          <a:off x="548640" y="2103120"/>
          <a:ext cx="11064241" cy="14630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2606040"/>
                <a:gridCol w="2606040"/>
                <a:gridCol w="2560320"/>
              </a:tblGrid>
              <a:tr h="487680">
                <a:tc>
                  <a:txBody>
                    <a:bodyPr/>
                    <a:lstStyle/>
                    <a:p>
                      <a:pPr algn="l">
                        <a:defRPr sz="1800"/>
                      </a:pPr>
                      <a:r>
                        <a:rPr b="1" sz="1300">
                          <a:solidFill>
                            <a:srgbClr val="FFFFFF"/>
                          </a:solidFill>
                        </a:rPr>
                        <a:t>Model (WU Gait)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IIA (realistic)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FSI</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Backdoor ASR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87680">
                <a:tc>
                  <a:txBody>
                    <a:bodyPr/>
                    <a:lstStyle/>
                    <a:p>
                      <a:pPr algn="l">
                        <a:defRPr sz="1800"/>
                      </a:pPr>
                      <a:r>
                        <a:rPr b="1" sz="1300">
                          <a:solidFill>
                            <a:srgbClr val="1B2A4A"/>
                          </a:solidFill>
                        </a:rPr>
                        <a:t>LoRA only (no-adapter)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26.7%*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86.0%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87680">
                <a:tc>
                  <a:txBody>
                    <a:bodyPr/>
                    <a:lstStyle/>
                    <a:p>
                      <a:pPr algn="l">
                        <a:defRPr sz="1800"/>
                      </a:pPr>
                      <a:r>
                        <a:rPr b="1" sz="1300">
                          <a:solidFill>
                            <a:srgbClr val="1B2A4A"/>
                          </a:solidFill>
                        </a:rPr>
                        <a:t>CDML+LoRA (no-seed, no-adapter)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56.5%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3.3%</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1.7%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bl>
          </a:graphicData>
        </a:graphic>
      </p:graphicFrame>
      <p:sp>
        <p:nvSpPr>
          <p:cNvPr id="231" name="Text 3"/>
          <p:cNvSpPr txBox="1"/>
          <p:nvPr/>
        </p:nvSpPr>
        <p:spPr>
          <a:xfrm>
            <a:off x="594359" y="3634784"/>
            <a:ext cx="10972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5B6B82"/>
                </a:solidFill>
              </a:defRPr>
            </a:lvl1pPr>
          </a:lstStyle>
          <a:p>
            <a:pPr/>
            <a:r>
              <a:t>*Average masks a sharp asymmetry, see focus below.</a:t>
            </a:r>
          </a:p>
        </p:txBody>
      </p:sp>
      <p:sp>
        <p:nvSpPr>
          <p:cNvPr id="232" name="Shape 4"/>
          <p:cNvSpPr/>
          <p:nvPr/>
        </p:nvSpPr>
        <p:spPr>
          <a:xfrm>
            <a:off x="548640" y="4023359"/>
            <a:ext cx="5349241" cy="2103121"/>
          </a:xfrm>
          <a:prstGeom prst="roundRect">
            <a:avLst>
              <a:gd name="adj" fmla="val 4348"/>
            </a:avLst>
          </a:prstGeom>
          <a:solidFill>
            <a:srgbClr val="E7ECF5"/>
          </a:solidFill>
          <a:ln w="12700">
            <a:solidFill>
              <a:srgbClr val="B33A3A"/>
            </a:solidFill>
          </a:ln>
        </p:spPr>
        <p:txBody>
          <a:bodyPr lIns="45719" rIns="45719"/>
          <a:lstStyle/>
          <a:p>
            <a:pPr/>
          </a:p>
        </p:txBody>
      </p:sp>
      <p:sp>
        <p:nvSpPr>
          <p:cNvPr id="233" name="Text 5"/>
          <p:cNvSpPr txBox="1"/>
          <p:nvPr/>
        </p:nvSpPr>
        <p:spPr>
          <a:xfrm>
            <a:off x="868680" y="4526718"/>
            <a:ext cx="4754880" cy="1096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1B2A4A"/>
                </a:solidFill>
              </a:defRPr>
            </a:pPr>
            <a:r>
              <a:t>Task 1 Is Structurally Exposed</a:t>
            </a:r>
          </a:p>
          <a:p>
            <a:pPr>
              <a:defRPr sz="1300">
                <a:solidFill>
                  <a:srgbClr val="1B2A4A"/>
                </a:solidFill>
              </a:defRPr>
            </a:pPr>
            <a:r>
              <a:t>LoRA-only IIA hits 96.8% on Task 1 — concentrated into the frozen backbone — but only 3.2–3.4% on Tasks 2–4, which live in private adapters. CDML scrambles the backbone itself, closing this gap for every task.</a:t>
            </a:r>
          </a:p>
        </p:txBody>
      </p:sp>
      <p:sp>
        <p:nvSpPr>
          <p:cNvPr id="234" name="Shape 6"/>
          <p:cNvSpPr/>
          <p:nvPr/>
        </p:nvSpPr>
        <p:spPr>
          <a:xfrm>
            <a:off x="6080759" y="4023359"/>
            <a:ext cx="5532121" cy="2103121"/>
          </a:xfrm>
          <a:prstGeom prst="roundRect">
            <a:avLst>
              <a:gd name="adj" fmla="val 4348"/>
            </a:avLst>
          </a:prstGeom>
          <a:solidFill>
            <a:srgbClr val="E7ECF5"/>
          </a:solidFill>
          <a:ln w="12700">
            <a:solidFill>
              <a:srgbClr val="B33A3A"/>
            </a:solidFill>
          </a:ln>
        </p:spPr>
        <p:txBody>
          <a:bodyPr lIns="45719" rIns="45719"/>
          <a:lstStyle/>
          <a:p>
            <a:pPr/>
          </a:p>
        </p:txBody>
      </p:sp>
      <p:sp>
        <p:nvSpPr>
          <p:cNvPr id="235" name="Text 7"/>
          <p:cNvSpPr txBox="1"/>
          <p:nvPr/>
        </p:nvSpPr>
        <p:spPr>
          <a:xfrm>
            <a:off x="6400800" y="4628318"/>
            <a:ext cx="4937760" cy="893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1B2A4A"/>
                </a:solidFill>
              </a:defRPr>
            </a:pPr>
            <a:r>
              <a:t>Small Datasets Still Need WGR</a:t>
            </a:r>
          </a:p>
          <a:p>
            <a:pPr>
              <a:defRPr sz="1300">
                <a:solidFill>
                  <a:srgbClr val="1B2A4A"/>
                </a:solidFill>
              </a:defRPr>
            </a:pPr>
            <a:r>
              <a:t>CDML+LoRA's backdoor ASR spikes to 32.6% on UCI HAR — its tiny per-task adapter overfits the trigger with so few samples. WGR-CDML+LoRA cuts this to 3.3% via the added wavelet-replay regularization.</a:t>
            </a:r>
          </a:p>
        </p:txBody>
      </p:sp>
      <p:pic>
        <p:nvPicPr>
          <p:cNvPr id="236"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237"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39"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FB-MAMBA FOR CONTINUAL GAIT IDENTIFICATION</a:t>
            </a:r>
          </a:p>
        </p:txBody>
      </p:sp>
      <p:sp>
        <p:nvSpPr>
          <p:cNvPr id="240"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Swapping the CNN for a Bidirectional State-Space Model</a:t>
            </a:r>
          </a:p>
        </p:txBody>
      </p:sp>
      <p:sp>
        <p:nvSpPr>
          <p:cNvPr id="241" name="Text 2"/>
          <p:cNvSpPr txBox="1"/>
          <p:nvPr/>
        </p:nvSpPr>
        <p:spPr>
          <a:xfrm>
            <a:off x="594359" y="1415219"/>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GaitMamba replaces the CNN with two parallel selective state-space branches, one reading the window forward, one backward, fused by a learned gate. CDML, LoRA and WGR all plug in exactly as before.</a:t>
            </a:r>
          </a:p>
        </p:txBody>
      </p:sp>
      <p:sp>
        <p:nvSpPr>
          <p:cNvPr id="242" name="Shape 3"/>
          <p:cNvSpPr/>
          <p:nvPr/>
        </p:nvSpPr>
        <p:spPr>
          <a:xfrm>
            <a:off x="548640" y="2011679"/>
            <a:ext cx="11064241" cy="594361"/>
          </a:xfrm>
          <a:prstGeom prst="roundRect">
            <a:avLst>
              <a:gd name="adj" fmla="val 12308"/>
            </a:avLst>
          </a:prstGeom>
          <a:solidFill>
            <a:srgbClr val="E7ECF5"/>
          </a:solidFill>
          <a:ln w="12700">
            <a:solidFill>
              <a:srgbClr val="1B2A4A"/>
            </a:solidFill>
          </a:ln>
        </p:spPr>
        <p:txBody>
          <a:bodyPr lIns="45719" rIns="45719"/>
          <a:lstStyle/>
          <a:p>
            <a:pPr/>
          </a:p>
        </p:txBody>
      </p:sp>
      <p:sp>
        <p:nvSpPr>
          <p:cNvPr id="243" name="Text 4"/>
          <p:cNvSpPr txBox="1"/>
          <p:nvPr/>
        </p:nvSpPr>
        <p:spPr>
          <a:xfrm>
            <a:off x="960119" y="2179758"/>
            <a:ext cx="1024128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300">
                <a:solidFill>
                  <a:srgbClr val="1B2A4A"/>
                </a:solidFill>
              </a:defRPr>
            </a:pPr>
            <a:r>
              <a:t>Extremely lightweight: </a:t>
            </a:r>
            <a:r>
              <a:rPr b="0"/>
              <a:t>26K–38K total parameters across datasets — LoRA adapters add just 2.4K–3.1K per task.</a:t>
            </a:r>
          </a:p>
        </p:txBody>
      </p:sp>
      <p:sp>
        <p:nvSpPr>
          <p:cNvPr id="244" name="Text 5"/>
          <p:cNvSpPr txBox="1"/>
          <p:nvPr/>
        </p:nvSpPr>
        <p:spPr>
          <a:xfrm>
            <a:off x="594359" y="6299507"/>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B2A4A"/>
                </a:solidFill>
              </a:defRPr>
            </a:lvl1pPr>
          </a:lstStyle>
          <a:p>
            <a:pPr/>
            <a:r>
              <a:t>Same pattern as GaitCNN: only the LoRA-based strategies reach zero backward transfer — the backbone choice doesn't change the anti-forgetting story.</a:t>
            </a:r>
          </a:p>
        </p:txBody>
      </p:sp>
      <p:pic>
        <p:nvPicPr>
          <p:cNvPr id="245" name="Screenshot 2026-07-23 alle 11.16.05.png" descr="Screenshot 2026-07-23 alle 11.16.05.png"/>
          <p:cNvPicPr>
            <a:picLocks noChangeAspect="1"/>
          </p:cNvPicPr>
          <p:nvPr/>
        </p:nvPicPr>
        <p:blipFill>
          <a:blip r:embed="rId2">
            <a:extLst/>
          </a:blip>
          <a:stretch>
            <a:fillRect/>
          </a:stretch>
        </p:blipFill>
        <p:spPr>
          <a:xfrm>
            <a:off x="412417" y="2895534"/>
            <a:ext cx="11076941" cy="3303150"/>
          </a:xfrm>
          <a:prstGeom prst="rect">
            <a:avLst/>
          </a:prstGeom>
          <a:ln w="12700">
            <a:miter lim="400000"/>
          </a:ln>
        </p:spPr>
      </p:pic>
      <p:pic>
        <p:nvPicPr>
          <p:cNvPr id="246" name="logo-2.png" descr="logo-2.png"/>
          <p:cNvPicPr>
            <a:picLocks noChangeAspect="1"/>
          </p:cNvPicPr>
          <p:nvPr/>
        </p:nvPicPr>
        <p:blipFill>
          <a:blip r:embed="rId3">
            <a:extLst/>
          </a:blip>
          <a:stretch>
            <a:fillRect/>
          </a:stretch>
        </p:blipFill>
        <p:spPr>
          <a:xfrm>
            <a:off x="9928565" y="40834"/>
            <a:ext cx="2211422" cy="547622"/>
          </a:xfrm>
          <a:prstGeom prst="rect">
            <a:avLst/>
          </a:prstGeom>
          <a:ln w="12700">
            <a:miter lim="400000"/>
          </a:ln>
        </p:spPr>
      </p:pic>
      <p:sp>
        <p:nvSpPr>
          <p:cNvPr id="247"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49"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FB-MAMBA FOR CONTINUAL GAIT IDENTIFICATION</a:t>
            </a:r>
          </a:p>
        </p:txBody>
      </p:sp>
      <p:sp>
        <p:nvSpPr>
          <p:cNvPr id="250"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Privacy Holds apart from the Backdoor</a:t>
            </a:r>
          </a:p>
        </p:txBody>
      </p:sp>
      <p:sp>
        <p:nvSpPr>
          <p:cNvPr id="251" name="Text 2"/>
          <p:cNvSpPr txBox="1"/>
          <p:nvPr/>
        </p:nvSpPr>
        <p:spPr>
          <a:xfrm>
            <a:off x="594359" y="1415219"/>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IIA and FSI follow the same access-control pattern seen throughout this thesis: near-chance without the seed, fully exposed with it. The backdoor attack tells a very different story on this backbone.</a:t>
            </a:r>
          </a:p>
        </p:txBody>
      </p:sp>
      <p:graphicFrame>
        <p:nvGraphicFramePr>
          <p:cNvPr id="252" name="Table 0"/>
          <p:cNvGraphicFramePr/>
          <p:nvPr/>
        </p:nvGraphicFramePr>
        <p:xfrm>
          <a:off x="548640" y="2011679"/>
          <a:ext cx="11064241" cy="21031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00400"/>
                <a:gridCol w="2651760"/>
                <a:gridCol w="2651760"/>
                <a:gridCol w="2560320"/>
              </a:tblGrid>
              <a:tr h="420624">
                <a:tc>
                  <a:txBody>
                    <a:bodyPr/>
                    <a:lstStyle/>
                    <a:p>
                      <a:pPr algn="l">
                        <a:defRPr sz="1800"/>
                      </a:pPr>
                      <a:r>
                        <a:rPr b="1" sz="1200">
                          <a:solidFill>
                            <a:srgbClr val="FFFFFF"/>
                          </a:solidFill>
                        </a:rPr>
                        <a:t>Strategy (WU Gait)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IIA (no-seed → oracle)</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FSI (no-seed → oracle)</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200">
                          <a:solidFill>
                            <a:srgbClr val="FFFFFF"/>
                          </a:solidFill>
                        </a:rPr>
                        <a:t>Backdoor ASR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20624">
                <a:tc>
                  <a:txBody>
                    <a:bodyPr/>
                    <a:lstStyle/>
                    <a:p>
                      <a:pPr algn="l">
                        <a:defRPr sz="1800"/>
                      </a:pPr>
                      <a:r>
                        <a:rPr b="1" sz="1200">
                          <a:solidFill>
                            <a:srgbClr val="1B2A4A"/>
                          </a:solidFill>
                        </a:rPr>
                        <a:t>Mamba-CDML</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0.37 → 0.91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0.02 → 0.89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90.0%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20624">
                <a:tc>
                  <a:txBody>
                    <a:bodyPr/>
                    <a:lstStyle/>
                    <a:p>
                      <a:pPr algn="l">
                        <a:defRPr sz="1800"/>
                      </a:pPr>
                      <a:r>
                        <a:rPr b="1" sz="1200">
                          <a:solidFill>
                            <a:srgbClr val="1B2A4A"/>
                          </a:solidFill>
                        </a:rPr>
                        <a:t>Mamba-CDML+LoRA</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0.35 → 0.99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0.07 → 0.87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92.0%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20624">
                <a:tc>
                  <a:txBody>
                    <a:bodyPr/>
                    <a:lstStyle/>
                    <a:p>
                      <a:pPr algn="l">
                        <a:defRPr sz="1800"/>
                      </a:pPr>
                      <a:r>
                        <a:rPr b="1" sz="1200">
                          <a:solidFill>
                            <a:srgbClr val="1B2A4A"/>
                          </a:solidFill>
                        </a:rPr>
                        <a:t>Mamba-WGR-CDML</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0.47 → 0.84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0.04 → 0.92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200">
                          <a:solidFill>
                            <a:srgbClr val="1B2A4A"/>
                          </a:solidFill>
                        </a:rPr>
                        <a:t>90.8%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20624">
                <a:tc>
                  <a:txBody>
                    <a:bodyPr/>
                    <a:lstStyle/>
                    <a:p>
                      <a:pPr algn="l">
                        <a:defRPr sz="1800"/>
                      </a:pPr>
                      <a:r>
                        <a:rPr b="1" sz="1200">
                          <a:solidFill>
                            <a:srgbClr val="1B2A4A"/>
                          </a:solidFill>
                        </a:rPr>
                        <a:t>Mamba-WGR-CDML+LoRA</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0.35 → 0.81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0.06 → 0.86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200">
                          <a:solidFill>
                            <a:srgbClr val="1B2A4A"/>
                          </a:solidFill>
                        </a:rPr>
                        <a:t>87.3%</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bl>
          </a:graphicData>
        </a:graphic>
      </p:graphicFrame>
      <p:sp>
        <p:nvSpPr>
          <p:cNvPr id="253" name="Shape 3"/>
          <p:cNvSpPr/>
          <p:nvPr/>
        </p:nvSpPr>
        <p:spPr>
          <a:xfrm>
            <a:off x="548640" y="4297679"/>
            <a:ext cx="5349241" cy="2011681"/>
          </a:xfrm>
          <a:prstGeom prst="roundRect">
            <a:avLst>
              <a:gd name="adj" fmla="val 4545"/>
            </a:avLst>
          </a:prstGeom>
          <a:solidFill>
            <a:srgbClr val="E7ECF5"/>
          </a:solidFill>
          <a:ln w="12700">
            <a:solidFill>
              <a:srgbClr val="1B2A4A"/>
            </a:solidFill>
          </a:ln>
        </p:spPr>
        <p:txBody>
          <a:bodyPr lIns="45719" rIns="45719"/>
          <a:lstStyle/>
          <a:p>
            <a:pPr/>
          </a:p>
        </p:txBody>
      </p:sp>
      <p:sp>
        <p:nvSpPr>
          <p:cNvPr id="254" name="Text 4"/>
          <p:cNvSpPr txBox="1"/>
          <p:nvPr/>
        </p:nvSpPr>
        <p:spPr>
          <a:xfrm>
            <a:off x="868680" y="4856918"/>
            <a:ext cx="4754880" cy="893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1B2A4A"/>
                </a:solidFill>
              </a:defRPr>
            </a:pPr>
            <a:r>
              <a:t>MIA Stays Silent</a:t>
            </a:r>
          </a:p>
          <a:p>
            <a:pPr>
              <a:defRPr sz="1300">
                <a:solidFill>
                  <a:srgbClr val="1B2A4A"/>
                </a:solidFill>
              </a:defRPr>
            </a:pPr>
            <a:r>
              <a:t>Membership inference sits at chance (0.47–0.53 AUC) even under full oracle access,  no detectable per-sample memorization on this backbone, across every strategy and dataset.</a:t>
            </a:r>
          </a:p>
        </p:txBody>
      </p:sp>
      <p:sp>
        <p:nvSpPr>
          <p:cNvPr id="255" name="Shape 5"/>
          <p:cNvSpPr/>
          <p:nvPr/>
        </p:nvSpPr>
        <p:spPr>
          <a:xfrm>
            <a:off x="6080759" y="4297679"/>
            <a:ext cx="5532121" cy="2011681"/>
          </a:xfrm>
          <a:prstGeom prst="roundRect">
            <a:avLst>
              <a:gd name="adj" fmla="val 4545"/>
            </a:avLst>
          </a:prstGeom>
          <a:solidFill>
            <a:srgbClr val="FBE9D6"/>
          </a:solidFill>
          <a:ln w="15875">
            <a:solidFill>
              <a:srgbClr val="B33A3A"/>
            </a:solidFill>
          </a:ln>
        </p:spPr>
        <p:txBody>
          <a:bodyPr lIns="45719" rIns="45719"/>
          <a:lstStyle/>
          <a:p>
            <a:pPr/>
          </a:p>
        </p:txBody>
      </p:sp>
      <p:sp>
        <p:nvSpPr>
          <p:cNvPr id="256" name="Text 6"/>
          <p:cNvSpPr txBox="1"/>
          <p:nvPr/>
        </p:nvSpPr>
        <p:spPr>
          <a:xfrm>
            <a:off x="6400800" y="4755318"/>
            <a:ext cx="4937760" cy="1096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B33A3A"/>
                </a:solidFill>
              </a:defRPr>
            </a:pPr>
            <a:r>
              <a:t>Backdoor Defeats Every Defense</a:t>
            </a:r>
          </a:p>
          <a:p>
            <a:pPr>
              <a:defRPr sz="1300">
                <a:solidFill>
                  <a:srgbClr val="1B2A4A"/>
                </a:solidFill>
              </a:defRPr>
            </a:pPr>
            <a:r>
              <a:t>Unlike on GaitCNN, none of CDML, LoRA, or WGR meaningfully suppress the backdoor here — ASR stays 87–92% on WU Gait and WISDM regardless of defense. UCI HAR's smaller task size (686 windows) is the only thing that helps (31–40% ASR).</a:t>
            </a:r>
          </a:p>
        </p:txBody>
      </p:sp>
      <p:pic>
        <p:nvPicPr>
          <p:cNvPr id="257"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258"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60"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CROSS-DATASET GENERALIZATION AND TRANSFER</a:t>
            </a:r>
          </a:p>
        </p:txBody>
      </p:sp>
      <p:sp>
        <p:nvSpPr>
          <p:cNvPr id="261"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Pre-trained WU Gait Features Transfer</a:t>
            </a:r>
          </a:p>
        </p:txBody>
      </p:sp>
      <p:sp>
        <p:nvSpPr>
          <p:cNvPr id="262" name="Text 2"/>
          <p:cNvSpPr txBox="1"/>
          <p:nvPr/>
        </p:nvSpPr>
        <p:spPr>
          <a:xfrm>
            <a:off x="594359" y="1415219"/>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A GaitCNN backbone pre-trained on all 118 WU Gait subjects is frozen and reused as-is; only a LoRA embedding adapter and a CDML sequence are trained per task on the target dataset.</a:t>
            </a:r>
          </a:p>
        </p:txBody>
      </p:sp>
      <p:sp>
        <p:nvSpPr>
          <p:cNvPr id="263" name="Shape 3"/>
          <p:cNvSpPr/>
          <p:nvPr/>
        </p:nvSpPr>
        <p:spPr>
          <a:xfrm>
            <a:off x="7223759" y="2057400"/>
            <a:ext cx="4389121" cy="3291841"/>
          </a:xfrm>
          <a:prstGeom prst="roundRect">
            <a:avLst>
              <a:gd name="adj" fmla="val 2778"/>
            </a:avLst>
          </a:prstGeom>
          <a:solidFill>
            <a:srgbClr val="E7ECF5"/>
          </a:solidFill>
          <a:ln w="12700">
            <a:solidFill>
              <a:srgbClr val="1B2A4A"/>
            </a:solidFill>
          </a:ln>
        </p:spPr>
        <p:txBody>
          <a:bodyPr lIns="45719" rIns="45719"/>
          <a:lstStyle/>
          <a:p>
            <a:pPr/>
          </a:p>
        </p:txBody>
      </p:sp>
      <p:sp>
        <p:nvSpPr>
          <p:cNvPr id="264" name="Text 4"/>
          <p:cNvSpPr txBox="1"/>
          <p:nvPr/>
        </p:nvSpPr>
        <p:spPr>
          <a:xfrm>
            <a:off x="7543800" y="3145966"/>
            <a:ext cx="3749040" cy="1114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Why the Asymmetry?</a:t>
            </a:r>
          </a:p>
          <a:p>
            <a:pPr>
              <a:defRPr sz="1100">
                <a:solidFill>
                  <a:srgbClr val="1B2A4A"/>
                </a:solidFill>
              </a:defRPr>
            </a:pPr>
            <a:r>
              <a:t>UCI HAR keeps three walking variants (flat, upstairs, downstairs); the WU Gait backbone was trained on flat walking only. Its filters are a good, but imperfect, match for staircase dynamics — capping the transfer gain at +1.0 pp, versus +15.3 pp on WISDM's matching flat-walking data.</a:t>
            </a:r>
          </a:p>
        </p:txBody>
      </p:sp>
      <p:sp>
        <p:nvSpPr>
          <p:cNvPr id="265" name="Text 5"/>
          <p:cNvSpPr txBox="1"/>
          <p:nvPr/>
        </p:nvSpPr>
        <p:spPr>
          <a:xfrm>
            <a:off x="594359" y="5636567"/>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B2A4A"/>
                </a:solidFill>
              </a:defRPr>
            </a:lvl1pPr>
          </a:lstStyle>
          <a:p>
            <a:pPr/>
            <a:r>
              <a:t>A frozen, pre-trained backbone is a cheap option when adding a new, smaller gait dataset to an already-deployed system.</a:t>
            </a:r>
          </a:p>
        </p:txBody>
      </p:sp>
      <p:pic>
        <p:nvPicPr>
          <p:cNvPr id="266" name="Screenshot 2026-07-23 alle 11.16.42.png" descr="Screenshot 2026-07-23 alle 11.16.42.png"/>
          <p:cNvPicPr>
            <a:picLocks noChangeAspect="1"/>
          </p:cNvPicPr>
          <p:nvPr/>
        </p:nvPicPr>
        <p:blipFill>
          <a:blip r:embed="rId2">
            <a:extLst/>
          </a:blip>
          <a:stretch>
            <a:fillRect/>
          </a:stretch>
        </p:blipFill>
        <p:spPr>
          <a:xfrm>
            <a:off x="461773" y="2035302"/>
            <a:ext cx="6374030" cy="3304541"/>
          </a:xfrm>
          <a:prstGeom prst="rect">
            <a:avLst/>
          </a:prstGeom>
          <a:ln w="12700">
            <a:miter lim="400000"/>
          </a:ln>
        </p:spPr>
      </p:pic>
      <p:pic>
        <p:nvPicPr>
          <p:cNvPr id="267" name="logo-2.png" descr="logo-2.png"/>
          <p:cNvPicPr>
            <a:picLocks noChangeAspect="1"/>
          </p:cNvPicPr>
          <p:nvPr/>
        </p:nvPicPr>
        <p:blipFill>
          <a:blip r:embed="rId3">
            <a:extLst/>
          </a:blip>
          <a:stretch>
            <a:fillRect/>
          </a:stretch>
        </p:blipFill>
        <p:spPr>
          <a:xfrm>
            <a:off x="9928565" y="40834"/>
            <a:ext cx="2211422" cy="547622"/>
          </a:xfrm>
          <a:prstGeom prst="rect">
            <a:avLst/>
          </a:prstGeom>
          <a:ln w="12700">
            <a:miter lim="400000"/>
          </a:ln>
        </p:spPr>
      </p:pic>
      <p:sp>
        <p:nvSpPr>
          <p:cNvPr id="268"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70"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CROSS-DATASET GENERALISATION AND TRANSFER</a:t>
            </a:r>
          </a:p>
        </p:txBody>
      </p:sp>
      <p:sp>
        <p:nvSpPr>
          <p:cNvPr id="271"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Two More Angles: Warm-Starting and the Joint Ceiling</a:t>
            </a:r>
          </a:p>
        </p:txBody>
      </p:sp>
      <p:sp>
        <p:nvSpPr>
          <p:cNvPr id="272" name="Text 2"/>
          <p:cNvSpPr txBox="1"/>
          <p:nvPr/>
        </p:nvSpPr>
        <p:spPr>
          <a:xfrm>
            <a:off x="594359" y="1415219"/>
            <a:ext cx="10972801"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B2A4A"/>
                </a:solidFill>
              </a:defRPr>
            </a:lvl1pPr>
          </a:lstStyle>
          <a:p>
            <a:pPr/>
            <a:r>
              <a:t>A lighter form of transfer (initializing LoRA adapters from another dataset) and a theoretical ceiling (training on all subjects at once) bound the problem from both sides.</a:t>
            </a:r>
          </a:p>
        </p:txBody>
      </p:sp>
      <p:graphicFrame>
        <p:nvGraphicFramePr>
          <p:cNvPr id="273" name="Table 0"/>
          <p:cNvGraphicFramePr/>
          <p:nvPr/>
        </p:nvGraphicFramePr>
        <p:xfrm>
          <a:off x="548640" y="2103120"/>
          <a:ext cx="5486401"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560320"/>
                <a:gridCol w="1463040"/>
                <a:gridCol w="1463040"/>
              </a:tblGrid>
              <a:tr h="457200">
                <a:tc>
                  <a:txBody>
                    <a:bodyPr/>
                    <a:lstStyle/>
                    <a:p>
                      <a:pPr algn="l">
                        <a:defRPr sz="1800"/>
                      </a:pPr>
                      <a:r>
                        <a:rPr b="1" sz="1300">
                          <a:solidFill>
                            <a:srgbClr val="FFFFFF"/>
                          </a:solidFill>
                        </a:rPr>
                        <a:t>Experiment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UCI HAR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WISDM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57200">
                <a:tc>
                  <a:txBody>
                    <a:bodyPr/>
                    <a:lstStyle/>
                    <a:p>
                      <a:pPr algn="l">
                        <a:defRPr sz="1800"/>
                      </a:pPr>
                      <a:r>
                        <a:rPr b="1" sz="1300">
                          <a:solidFill>
                            <a:srgbClr val="1B2A4A"/>
                          </a:solidFill>
                        </a:rPr>
                        <a:t>Baseline (fresh init)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79.25%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91.88%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57200">
                <a:tc>
                  <a:txBody>
                    <a:bodyPr/>
                    <a:lstStyle/>
                    <a:p>
                      <a:pPr algn="l">
                        <a:defRPr sz="1800"/>
                      </a:pPr>
                      <a:r>
                        <a:rPr b="1" sz="1300">
                          <a:solidFill>
                            <a:srgbClr val="1B2A4A"/>
                          </a:solidFill>
                        </a:rPr>
                        <a:t>Order A (UCI → WISDM)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79.25%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92.24% ▲</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57200">
                <a:tc>
                  <a:txBody>
                    <a:bodyPr/>
                    <a:lstStyle/>
                    <a:p>
                      <a:pPr algn="l">
                        <a:defRPr sz="1800"/>
                      </a:pPr>
                      <a:r>
                        <a:rPr b="1" sz="1300">
                          <a:solidFill>
                            <a:srgbClr val="1B2A4A"/>
                          </a:solidFill>
                        </a:rPr>
                        <a:t>Order B (WISDM → UCI)</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78.40% ▼</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91.88%</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bl>
          </a:graphicData>
        </a:graphic>
      </p:graphicFrame>
      <p:sp>
        <p:nvSpPr>
          <p:cNvPr id="274" name="Shape 3"/>
          <p:cNvSpPr/>
          <p:nvPr/>
        </p:nvSpPr>
        <p:spPr>
          <a:xfrm>
            <a:off x="6355079" y="2103120"/>
            <a:ext cx="2514601" cy="1051561"/>
          </a:xfrm>
          <a:prstGeom prst="roundRect">
            <a:avLst>
              <a:gd name="adj" fmla="val 6957"/>
            </a:avLst>
          </a:prstGeom>
          <a:solidFill>
            <a:srgbClr val="E7ECF5"/>
          </a:solidFill>
          <a:ln w="12700">
            <a:solidFill>
              <a:srgbClr val="1B2A4A"/>
            </a:solidFill>
          </a:ln>
        </p:spPr>
        <p:txBody>
          <a:bodyPr lIns="45719" rIns="45719"/>
          <a:lstStyle/>
          <a:p>
            <a:pPr/>
          </a:p>
        </p:txBody>
      </p:sp>
      <p:sp>
        <p:nvSpPr>
          <p:cNvPr id="275" name="Text 4"/>
          <p:cNvSpPr txBox="1"/>
          <p:nvPr/>
        </p:nvSpPr>
        <p:spPr>
          <a:xfrm>
            <a:off x="6400800" y="2240787"/>
            <a:ext cx="242316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400">
                <a:solidFill>
                  <a:srgbClr val="1C7293"/>
                </a:solidFill>
                <a:latin typeface="Cambria"/>
                <a:ea typeface="Cambria"/>
                <a:cs typeface="Cambria"/>
                <a:sym typeface="Cambria"/>
              </a:defRPr>
            </a:lvl1pPr>
          </a:lstStyle>
          <a:p>
            <a:pPr/>
            <a:r>
              <a:t>98.2%</a:t>
            </a:r>
          </a:p>
        </p:txBody>
      </p:sp>
      <p:sp>
        <p:nvSpPr>
          <p:cNvPr id="276" name="Text 5"/>
          <p:cNvSpPr txBox="1"/>
          <p:nvPr/>
        </p:nvSpPr>
        <p:spPr>
          <a:xfrm>
            <a:off x="6400800" y="2694354"/>
            <a:ext cx="24231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B2A4A"/>
                </a:solidFill>
              </a:defRPr>
            </a:lvl1pPr>
          </a:lstStyle>
          <a:p>
            <a:pPr/>
            <a:r>
              <a:t>WU Gait</a:t>
            </a:r>
          </a:p>
        </p:txBody>
      </p:sp>
      <p:sp>
        <p:nvSpPr>
          <p:cNvPr id="277" name="Text 6"/>
          <p:cNvSpPr txBox="1"/>
          <p:nvPr/>
        </p:nvSpPr>
        <p:spPr>
          <a:xfrm>
            <a:off x="6400800" y="2919135"/>
            <a:ext cx="2423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5B6B82"/>
                </a:solidFill>
              </a:defRPr>
            </a:lvl1pPr>
          </a:lstStyle>
          <a:p>
            <a:pPr/>
            <a:r>
              <a:t>+6.0 pp vs 92.1%</a:t>
            </a:r>
          </a:p>
        </p:txBody>
      </p:sp>
      <p:sp>
        <p:nvSpPr>
          <p:cNvPr id="278" name="Shape 7"/>
          <p:cNvSpPr/>
          <p:nvPr/>
        </p:nvSpPr>
        <p:spPr>
          <a:xfrm>
            <a:off x="9006840" y="2103120"/>
            <a:ext cx="2514601" cy="1051561"/>
          </a:xfrm>
          <a:prstGeom prst="roundRect">
            <a:avLst>
              <a:gd name="adj" fmla="val 6957"/>
            </a:avLst>
          </a:prstGeom>
          <a:solidFill>
            <a:srgbClr val="E7ECF5"/>
          </a:solidFill>
          <a:ln w="12700">
            <a:solidFill>
              <a:srgbClr val="1B2A4A"/>
            </a:solidFill>
          </a:ln>
        </p:spPr>
        <p:txBody>
          <a:bodyPr lIns="45719" rIns="45719"/>
          <a:lstStyle/>
          <a:p>
            <a:pPr/>
          </a:p>
        </p:txBody>
      </p:sp>
      <p:sp>
        <p:nvSpPr>
          <p:cNvPr id="279" name="Text 8"/>
          <p:cNvSpPr txBox="1"/>
          <p:nvPr/>
        </p:nvSpPr>
        <p:spPr>
          <a:xfrm>
            <a:off x="9052559" y="2240787"/>
            <a:ext cx="242316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400">
                <a:solidFill>
                  <a:srgbClr val="1C7293"/>
                </a:solidFill>
                <a:latin typeface="Cambria"/>
                <a:ea typeface="Cambria"/>
                <a:cs typeface="Cambria"/>
                <a:sym typeface="Cambria"/>
              </a:defRPr>
            </a:lvl1pPr>
          </a:lstStyle>
          <a:p>
            <a:pPr/>
            <a:r>
              <a:t>95.5%</a:t>
            </a:r>
          </a:p>
        </p:txBody>
      </p:sp>
      <p:sp>
        <p:nvSpPr>
          <p:cNvPr id="280" name="Text 9"/>
          <p:cNvSpPr txBox="1"/>
          <p:nvPr/>
        </p:nvSpPr>
        <p:spPr>
          <a:xfrm>
            <a:off x="9052559" y="2694354"/>
            <a:ext cx="24231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B2A4A"/>
                </a:solidFill>
              </a:defRPr>
            </a:lvl1pPr>
          </a:lstStyle>
          <a:p>
            <a:pPr/>
            <a:r>
              <a:t>UCI HAR</a:t>
            </a:r>
          </a:p>
        </p:txBody>
      </p:sp>
      <p:sp>
        <p:nvSpPr>
          <p:cNvPr id="281" name="Text 10"/>
          <p:cNvSpPr txBox="1"/>
          <p:nvPr/>
        </p:nvSpPr>
        <p:spPr>
          <a:xfrm>
            <a:off x="9052559" y="2919135"/>
            <a:ext cx="2423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5B6B82"/>
                </a:solidFill>
              </a:defRPr>
            </a:lvl1pPr>
          </a:lstStyle>
          <a:p>
            <a:pPr/>
            <a:r>
              <a:t>+0.4 pp vs 95.1%</a:t>
            </a:r>
          </a:p>
        </p:txBody>
      </p:sp>
      <p:sp>
        <p:nvSpPr>
          <p:cNvPr id="282" name="Shape 11"/>
          <p:cNvSpPr/>
          <p:nvPr/>
        </p:nvSpPr>
        <p:spPr>
          <a:xfrm>
            <a:off x="6355079" y="3246120"/>
            <a:ext cx="2514601" cy="1051561"/>
          </a:xfrm>
          <a:prstGeom prst="roundRect">
            <a:avLst>
              <a:gd name="adj" fmla="val 6957"/>
            </a:avLst>
          </a:prstGeom>
          <a:solidFill>
            <a:srgbClr val="E7ECF5"/>
          </a:solidFill>
          <a:ln w="12700">
            <a:solidFill>
              <a:srgbClr val="1B2A4A"/>
            </a:solidFill>
          </a:ln>
        </p:spPr>
        <p:txBody>
          <a:bodyPr lIns="45719" rIns="45719"/>
          <a:lstStyle/>
          <a:p>
            <a:pPr/>
          </a:p>
        </p:txBody>
      </p:sp>
      <p:sp>
        <p:nvSpPr>
          <p:cNvPr id="283" name="Text 12"/>
          <p:cNvSpPr txBox="1"/>
          <p:nvPr/>
        </p:nvSpPr>
        <p:spPr>
          <a:xfrm>
            <a:off x="6400800" y="3383787"/>
            <a:ext cx="242316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400">
                <a:solidFill>
                  <a:srgbClr val="1C7293"/>
                </a:solidFill>
                <a:latin typeface="Cambria"/>
                <a:ea typeface="Cambria"/>
                <a:cs typeface="Cambria"/>
                <a:sym typeface="Cambria"/>
              </a:defRPr>
            </a:lvl1pPr>
          </a:lstStyle>
          <a:p>
            <a:pPr/>
            <a:r>
              <a:t>96.7%</a:t>
            </a:r>
          </a:p>
        </p:txBody>
      </p:sp>
      <p:sp>
        <p:nvSpPr>
          <p:cNvPr id="284" name="Text 13"/>
          <p:cNvSpPr txBox="1"/>
          <p:nvPr/>
        </p:nvSpPr>
        <p:spPr>
          <a:xfrm>
            <a:off x="6400800" y="3837353"/>
            <a:ext cx="2423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B2A4A"/>
                </a:solidFill>
              </a:defRPr>
            </a:lvl1pPr>
          </a:lstStyle>
          <a:p>
            <a:pPr/>
            <a:r>
              <a:t>WISDM</a:t>
            </a:r>
          </a:p>
        </p:txBody>
      </p:sp>
      <p:sp>
        <p:nvSpPr>
          <p:cNvPr id="285" name="Text 14"/>
          <p:cNvSpPr txBox="1"/>
          <p:nvPr/>
        </p:nvSpPr>
        <p:spPr>
          <a:xfrm>
            <a:off x="6400800" y="4062135"/>
            <a:ext cx="2423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5B6B82"/>
                </a:solidFill>
              </a:defRPr>
            </a:lvl1pPr>
          </a:lstStyle>
          <a:p>
            <a:pPr/>
            <a:r>
              <a:t>+0.1 pp vs 96.6%</a:t>
            </a:r>
          </a:p>
        </p:txBody>
      </p:sp>
      <p:sp>
        <p:nvSpPr>
          <p:cNvPr id="286" name="Shape 15"/>
          <p:cNvSpPr/>
          <p:nvPr/>
        </p:nvSpPr>
        <p:spPr>
          <a:xfrm>
            <a:off x="9006840" y="3246120"/>
            <a:ext cx="2514601" cy="1051561"/>
          </a:xfrm>
          <a:prstGeom prst="roundRect">
            <a:avLst>
              <a:gd name="adj" fmla="val 6957"/>
            </a:avLst>
          </a:prstGeom>
          <a:solidFill>
            <a:srgbClr val="E7ECF5"/>
          </a:solidFill>
          <a:ln w="12700">
            <a:solidFill>
              <a:srgbClr val="1B2A4A"/>
            </a:solidFill>
          </a:ln>
        </p:spPr>
        <p:txBody>
          <a:bodyPr lIns="45719" rIns="45719"/>
          <a:lstStyle/>
          <a:p>
            <a:pPr/>
          </a:p>
        </p:txBody>
      </p:sp>
      <p:sp>
        <p:nvSpPr>
          <p:cNvPr id="287" name="Text 16"/>
          <p:cNvSpPr txBox="1"/>
          <p:nvPr/>
        </p:nvSpPr>
        <p:spPr>
          <a:xfrm>
            <a:off x="9052559" y="3383787"/>
            <a:ext cx="242316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400">
                <a:solidFill>
                  <a:srgbClr val="1C7293"/>
                </a:solidFill>
                <a:latin typeface="Cambria"/>
                <a:ea typeface="Cambria"/>
                <a:cs typeface="Cambria"/>
                <a:sym typeface="Cambria"/>
              </a:defRPr>
            </a:lvl1pPr>
          </a:lstStyle>
          <a:p>
            <a:pPr/>
            <a:r>
              <a:t>97.3%</a:t>
            </a:r>
          </a:p>
        </p:txBody>
      </p:sp>
      <p:sp>
        <p:nvSpPr>
          <p:cNvPr id="288" name="Text 17"/>
          <p:cNvSpPr txBox="1"/>
          <p:nvPr/>
        </p:nvSpPr>
        <p:spPr>
          <a:xfrm>
            <a:off x="9052559" y="3837353"/>
            <a:ext cx="2423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B2A4A"/>
                </a:solidFill>
              </a:defRPr>
            </a:lvl1pPr>
          </a:lstStyle>
          <a:p>
            <a:pPr/>
            <a:r>
              <a:t>Overall (199 subj.)</a:t>
            </a:r>
          </a:p>
        </p:txBody>
      </p:sp>
      <p:sp>
        <p:nvSpPr>
          <p:cNvPr id="289" name="Text 18"/>
          <p:cNvSpPr txBox="1"/>
          <p:nvPr/>
        </p:nvSpPr>
        <p:spPr>
          <a:xfrm>
            <a:off x="9052559" y="4062135"/>
            <a:ext cx="2423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5B6B82"/>
                </a:solidFill>
              </a:defRPr>
            </a:lvl1pPr>
          </a:lstStyle>
          <a:p>
            <a:pPr/>
            <a:r>
              <a:t>joint multi-dataset ceiling</a:t>
            </a:r>
          </a:p>
        </p:txBody>
      </p:sp>
      <p:sp>
        <p:nvSpPr>
          <p:cNvPr id="290" name="Shape 19"/>
          <p:cNvSpPr/>
          <p:nvPr/>
        </p:nvSpPr>
        <p:spPr>
          <a:xfrm>
            <a:off x="548640" y="4526279"/>
            <a:ext cx="11064241" cy="868681"/>
          </a:xfrm>
          <a:prstGeom prst="roundRect">
            <a:avLst>
              <a:gd name="adj" fmla="val 8421"/>
            </a:avLst>
          </a:prstGeom>
          <a:solidFill>
            <a:srgbClr val="FBE9D6"/>
          </a:solidFill>
          <a:ln w="12700">
            <a:solidFill>
              <a:srgbClr val="C97A2E"/>
            </a:solidFill>
          </a:ln>
        </p:spPr>
        <p:txBody>
          <a:bodyPr lIns="45719" rIns="45719"/>
          <a:lstStyle/>
          <a:p>
            <a:pPr/>
          </a:p>
        </p:txBody>
      </p:sp>
      <p:sp>
        <p:nvSpPr>
          <p:cNvPr id="291" name="Text 20"/>
          <p:cNvSpPr txBox="1"/>
          <p:nvPr/>
        </p:nvSpPr>
        <p:spPr>
          <a:xfrm>
            <a:off x="960119" y="4729919"/>
            <a:ext cx="10241282" cy="4614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B2A4A"/>
                </a:solidFill>
              </a:defRPr>
            </a:lvl1pPr>
          </a:lstStyle>
          <a:p>
            <a:pPr/>
            <a:r>
              <a:t>Warm-starting yields only marginal, asymmetric gains (±0.4–0.9 pp) — joint training remains the hard ceiling. Continual learning methods trail it most on UCI HAR (89.0% vs. 95.5%), leaving room for future work.</a:t>
            </a:r>
          </a:p>
        </p:txBody>
      </p:sp>
      <p:pic>
        <p:nvPicPr>
          <p:cNvPr id="292"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293"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295"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CROSS-DATASET GENERALIZATION AND TRANSFER</a:t>
            </a:r>
          </a:p>
        </p:txBody>
      </p:sp>
      <p:sp>
        <p:nvSpPr>
          <p:cNvPr id="296"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The Full Transfer Spectrum</a:t>
            </a:r>
          </a:p>
        </p:txBody>
      </p:sp>
      <p:graphicFrame>
        <p:nvGraphicFramePr>
          <p:cNvPr id="297" name="Table 0"/>
          <p:cNvGraphicFramePr/>
          <p:nvPr/>
        </p:nvGraphicFramePr>
        <p:xfrm>
          <a:off x="548640" y="1554480"/>
          <a:ext cx="11064241" cy="283464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29200"/>
                <a:gridCol w="3017520"/>
                <a:gridCol w="3017520"/>
              </a:tblGrid>
              <a:tr h="472440">
                <a:tc>
                  <a:txBody>
                    <a:bodyPr/>
                    <a:lstStyle/>
                    <a:p>
                      <a:pPr algn="l">
                        <a:defRPr sz="1800"/>
                      </a:pPr>
                      <a:r>
                        <a:rPr b="1" sz="1300">
                          <a:solidFill>
                            <a:srgbClr val="FFFFFF"/>
                          </a:solidFill>
                        </a:rPr>
                        <a:t>Experiment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UCI HAR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WISDM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72440">
                <a:tc>
                  <a:txBody>
                    <a:bodyPr/>
                    <a:lstStyle/>
                    <a:p>
                      <a:pPr algn="l">
                        <a:defRPr sz="1800"/>
                      </a:pPr>
                      <a:r>
                        <a:rPr b="1" sz="1300">
                          <a:solidFill>
                            <a:srgbClr val="FFFFFF"/>
                          </a:solidFill>
                        </a:rPr>
                        <a:t>Single-dataset baseline (ceiling)</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95.1%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96.6%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r>
              <a:tr h="472440">
                <a:tc>
                  <a:txBody>
                    <a:bodyPr/>
                    <a:lstStyle/>
                    <a:p>
                      <a:pPr algn="l">
                        <a:defRPr sz="1800"/>
                      </a:pPr>
                      <a:r>
                        <a:rPr b="1" sz="1300">
                          <a:solidFill>
                            <a:srgbClr val="1B2A4A"/>
                          </a:solidFill>
                        </a:rPr>
                        <a:t>Within-dataset CDML+LoRA</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88.0%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77.2%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72440">
                <a:tc>
                  <a:txBody>
                    <a:bodyPr/>
                    <a:lstStyle/>
                    <a:p>
                      <a:pPr algn="l">
                        <a:defRPr sz="1800"/>
                      </a:pPr>
                      <a:r>
                        <a:rPr b="1" sz="1300">
                          <a:solidFill>
                            <a:srgbClr val="1B2A4A"/>
                          </a:solidFill>
                        </a:rPr>
                        <a:t>Frozen-backbone transfer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89.0%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92.5%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72440">
                <a:tc>
                  <a:txBody>
                    <a:bodyPr/>
                    <a:lstStyle/>
                    <a:p>
                      <a:pPr algn="l">
                        <a:defRPr sz="1800"/>
                      </a:pPr>
                      <a:r>
                        <a:rPr b="1" sz="1300">
                          <a:solidFill>
                            <a:srgbClr val="1B2A4A"/>
                          </a:solidFill>
                        </a:rPr>
                        <a:t>Adapter warm-starting</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78.4%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92.2%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72440">
                <a:tc>
                  <a:txBody>
                    <a:bodyPr/>
                    <a:lstStyle/>
                    <a:p>
                      <a:pPr algn="l">
                        <a:defRPr sz="1800"/>
                      </a:pPr>
                      <a:r>
                        <a:rPr b="1" sz="1300">
                          <a:solidFill>
                            <a:srgbClr val="FFFFFF"/>
                          </a:solidFill>
                        </a:rPr>
                        <a:t>Joint multi-dataset training</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95.5%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c>
                  <a:txBody>
                    <a:bodyPr/>
                    <a:lstStyle/>
                    <a:p>
                      <a:pPr algn="ctr">
                        <a:defRPr sz="1800"/>
                      </a:pPr>
                      <a:r>
                        <a:rPr b="1" sz="1300">
                          <a:solidFill>
                            <a:srgbClr val="FFFFFF"/>
                          </a:solidFill>
                        </a:rPr>
                        <a:t>96.7%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C7293"/>
                    </a:solidFill>
                  </a:tcPr>
                </a:tc>
              </a:tr>
            </a:tbl>
          </a:graphicData>
        </a:graphic>
      </p:graphicFrame>
      <p:sp>
        <p:nvSpPr>
          <p:cNvPr id="298" name="Shape 2"/>
          <p:cNvSpPr/>
          <p:nvPr/>
        </p:nvSpPr>
        <p:spPr>
          <a:xfrm>
            <a:off x="548640" y="4617720"/>
            <a:ext cx="11064241" cy="1234441"/>
          </a:xfrm>
          <a:prstGeom prst="roundRect">
            <a:avLst>
              <a:gd name="adj" fmla="val 7407"/>
            </a:avLst>
          </a:prstGeom>
          <a:solidFill>
            <a:srgbClr val="FBE9D6"/>
          </a:solidFill>
          <a:ln w="12700">
            <a:solidFill>
              <a:srgbClr val="C97A2E"/>
            </a:solidFill>
          </a:ln>
        </p:spPr>
        <p:txBody>
          <a:bodyPr lIns="45719" rIns="45719"/>
          <a:lstStyle/>
          <a:p>
            <a:pPr/>
          </a:p>
        </p:txBody>
      </p:sp>
      <p:sp>
        <p:nvSpPr>
          <p:cNvPr id="299" name="Text 3"/>
          <p:cNvSpPr txBox="1"/>
          <p:nvPr/>
        </p:nvSpPr>
        <p:spPr>
          <a:xfrm>
            <a:off x="960119" y="4865940"/>
            <a:ext cx="10241282" cy="7380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400">
                <a:solidFill>
                  <a:srgbClr val="1B2A4A"/>
                </a:solidFill>
              </a:defRPr>
            </a:pPr>
            <a:r>
              <a:t>Dataset compatibility matters more than model capacity: </a:t>
            </a:r>
            <a:r>
              <a:rPr b="0"/>
              <a:t>WISDM gains up to +15 pp from transfer since it shares WU Gait's flat-walking dynamics; UCI HAR's staircase variants cap the benefit, leaving ~6.5 pp of headroom versus the joint ceiling for future continual learning work.</a:t>
            </a:r>
          </a:p>
        </p:txBody>
      </p:sp>
      <p:pic>
        <p:nvPicPr>
          <p:cNvPr id="300"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301"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303"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CONCLUSIONS</a:t>
            </a:r>
          </a:p>
        </p:txBody>
      </p:sp>
      <p:sp>
        <p:nvSpPr>
          <p:cNvPr id="304"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CDML+LoRA: The Best Overall Configuration</a:t>
            </a:r>
          </a:p>
        </p:txBody>
      </p:sp>
      <p:graphicFrame>
        <p:nvGraphicFramePr>
          <p:cNvPr id="305" name="Table 0"/>
          <p:cNvGraphicFramePr/>
          <p:nvPr/>
        </p:nvGraphicFramePr>
        <p:xfrm>
          <a:off x="548640" y="1463039"/>
          <a:ext cx="11064241" cy="1737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86000"/>
                <a:gridCol w="1920240"/>
                <a:gridCol w="1737360"/>
                <a:gridCol w="1737360"/>
                <a:gridCol w="1737360"/>
                <a:gridCol w="1645920"/>
              </a:tblGrid>
              <a:tr h="434340">
                <a:tc>
                  <a:txBody>
                    <a:bodyPr/>
                    <a:lstStyle/>
                    <a:p>
                      <a:pPr algn="l">
                        <a:defRPr sz="1800"/>
                      </a:pPr>
                      <a:r>
                        <a:rPr b="1" sz="1300">
                          <a:solidFill>
                            <a:srgbClr val="FFFFFF"/>
                          </a:solidFill>
                        </a:rPr>
                        <a:t>Dataset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Avg Accuracy</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Forgetting</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IIA AUC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FSI acc.</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c>
                  <a:txBody>
                    <a:bodyPr/>
                    <a:lstStyle/>
                    <a:p>
                      <a:pPr algn="ctr">
                        <a:defRPr sz="1800"/>
                      </a:pPr>
                      <a:r>
                        <a:rPr b="1" sz="1300">
                          <a:solidFill>
                            <a:srgbClr val="FFFFFF"/>
                          </a:solidFill>
                        </a:rPr>
                        <a:t>Backdoor ASR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1B2A4A"/>
                    </a:solidFill>
                  </a:tcPr>
                </a:tc>
              </a:tr>
              <a:tr h="434340">
                <a:tc>
                  <a:txBody>
                    <a:bodyPr/>
                    <a:lstStyle/>
                    <a:p>
                      <a:pPr algn="l">
                        <a:defRPr sz="1800"/>
                      </a:pPr>
                      <a:r>
                        <a:rPr b="1" sz="1300">
                          <a:solidFill>
                            <a:srgbClr val="1B2A4A"/>
                          </a:solidFill>
                        </a:rPr>
                        <a:t>WU Gait</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91.5%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0.0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56.5%</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3.3%</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1.7%</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r h="434340">
                <a:tc>
                  <a:txBody>
                    <a:bodyPr/>
                    <a:lstStyle/>
                    <a:p>
                      <a:pPr algn="l">
                        <a:defRPr sz="1800"/>
                      </a:pPr>
                      <a:r>
                        <a:rPr b="1" sz="1300">
                          <a:solidFill>
                            <a:srgbClr val="1B2A4A"/>
                          </a:solidFill>
                        </a:rPr>
                        <a:t>UCI HAR</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88.0%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0.0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50.2%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3.9%</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c>
                  <a:txBody>
                    <a:bodyPr/>
                    <a:lstStyle/>
                    <a:p>
                      <a:pPr algn="ctr">
                        <a:defRPr sz="1800"/>
                      </a:pPr>
                      <a:r>
                        <a:rPr sz="1300">
                          <a:solidFill>
                            <a:srgbClr val="1B2A4A"/>
                          </a:solidFill>
                        </a:rPr>
                        <a:t>32.6%</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FFFFFF"/>
                    </a:solidFill>
                  </a:tcPr>
                </a:tc>
              </a:tr>
              <a:tr h="434340">
                <a:tc>
                  <a:txBody>
                    <a:bodyPr/>
                    <a:lstStyle/>
                    <a:p>
                      <a:pPr algn="l">
                        <a:defRPr sz="1800"/>
                      </a:pPr>
                      <a:r>
                        <a:rPr b="1" sz="1300">
                          <a:solidFill>
                            <a:srgbClr val="1B2A4A"/>
                          </a:solidFill>
                        </a:rPr>
                        <a:t>WISDM</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77.2%</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0.0 pp</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52.1%</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3.4%</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c>
                  <a:txBody>
                    <a:bodyPr/>
                    <a:lstStyle/>
                    <a:p>
                      <a:pPr algn="ctr">
                        <a:defRPr sz="1800"/>
                      </a:pPr>
                      <a:r>
                        <a:rPr sz="1300">
                          <a:solidFill>
                            <a:srgbClr val="1B2A4A"/>
                          </a:solidFill>
                        </a:rPr>
                        <a:t>0.0%</a:t>
                      </a:r>
                    </a:p>
                  </a:txBody>
                  <a:tcPr marL="45720" marR="45720" marT="45720" marB="45720" anchor="ctr" anchorCtr="0" horzOverflow="overflow">
                    <a:lnL>
                      <a:solidFill>
                        <a:srgbClr val="D7DEE9"/>
                      </a:solidFill>
                    </a:lnL>
                    <a:lnR>
                      <a:solidFill>
                        <a:srgbClr val="D7DEE9"/>
                      </a:solidFill>
                    </a:lnR>
                    <a:lnT>
                      <a:solidFill>
                        <a:srgbClr val="D7DEE9"/>
                      </a:solidFill>
                    </a:lnT>
                    <a:lnB>
                      <a:solidFill>
                        <a:srgbClr val="D7DEE9"/>
                      </a:solidFill>
                    </a:lnB>
                    <a:solidFill>
                      <a:srgbClr val="E7ECF5"/>
                    </a:solidFill>
                  </a:tcPr>
                </a:tc>
              </a:tr>
            </a:tbl>
          </a:graphicData>
        </a:graphic>
      </p:graphicFrame>
      <p:sp>
        <p:nvSpPr>
          <p:cNvPr id="306" name="Shape 2"/>
          <p:cNvSpPr/>
          <p:nvPr/>
        </p:nvSpPr>
        <p:spPr>
          <a:xfrm>
            <a:off x="548640" y="3383279"/>
            <a:ext cx="11064241" cy="777241"/>
          </a:xfrm>
          <a:prstGeom prst="roundRect">
            <a:avLst>
              <a:gd name="adj" fmla="val 9412"/>
            </a:avLst>
          </a:prstGeom>
          <a:solidFill>
            <a:srgbClr val="E7ECF5"/>
          </a:solidFill>
          <a:ln w="12700">
            <a:solidFill>
              <a:srgbClr val="1B2A4A"/>
            </a:solidFill>
          </a:ln>
        </p:spPr>
        <p:txBody>
          <a:bodyPr lIns="45719" rIns="45719"/>
          <a:lstStyle/>
          <a:p>
            <a:pPr/>
          </a:p>
        </p:txBody>
      </p:sp>
      <p:sp>
        <p:nvSpPr>
          <p:cNvPr id="307" name="Text 3"/>
          <p:cNvSpPr txBox="1"/>
          <p:nvPr/>
        </p:nvSpPr>
        <p:spPr>
          <a:xfrm>
            <a:off x="960119" y="3647747"/>
            <a:ext cx="102412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200">
                <a:solidFill>
                  <a:srgbClr val="1B2A4A"/>
                </a:solidFill>
              </a:defRPr>
            </a:pPr>
            <a:r>
              <a:t>Alternative: </a:t>
            </a:r>
            <a:r>
              <a:rPr>
                <a:solidFill>
                  <a:srgbClr val="1C7293"/>
                </a:solidFill>
              </a:rPr>
              <a:t>WGR-CDML+LoRA</a:t>
            </a:r>
            <a:r>
              <a:rPr b="0"/>
              <a:t> — when backdoor robustness matters (cuts UCI HAR ASR to 3.3%) or WISDM is the primary target (80.2% vs 77.2%).</a:t>
            </a:r>
          </a:p>
        </p:txBody>
      </p:sp>
      <p:sp>
        <p:nvSpPr>
          <p:cNvPr id="308" name="Shape 4"/>
          <p:cNvSpPr/>
          <p:nvPr/>
        </p:nvSpPr>
        <p:spPr>
          <a:xfrm>
            <a:off x="548640" y="4389120"/>
            <a:ext cx="11064241" cy="1463041"/>
          </a:xfrm>
          <a:prstGeom prst="roundRect">
            <a:avLst>
              <a:gd name="adj" fmla="val 6250"/>
            </a:avLst>
          </a:prstGeom>
          <a:solidFill>
            <a:srgbClr val="FBE9D6"/>
          </a:solidFill>
          <a:ln w="15875">
            <a:solidFill>
              <a:srgbClr val="C97A2E"/>
            </a:solidFill>
          </a:ln>
        </p:spPr>
        <p:txBody>
          <a:bodyPr lIns="45719" rIns="45719"/>
          <a:lstStyle/>
          <a:p>
            <a:pPr/>
          </a:p>
        </p:txBody>
      </p:sp>
      <p:sp>
        <p:nvSpPr>
          <p:cNvPr id="309" name="Text 5"/>
          <p:cNvSpPr txBox="1"/>
          <p:nvPr/>
        </p:nvSpPr>
        <p:spPr>
          <a:xfrm>
            <a:off x="960119" y="4623307"/>
            <a:ext cx="10241282"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700">
                <a:solidFill>
                  <a:srgbClr val="1B2A4A"/>
                </a:solidFill>
                <a:latin typeface="Cambria"/>
                <a:ea typeface="Cambria"/>
                <a:cs typeface="Cambria"/>
                <a:sym typeface="Cambria"/>
              </a:defRPr>
            </a:lvl1pPr>
          </a:lstStyle>
          <a:p>
            <a:pPr/>
            <a:r>
              <a:t>Catastrophic forgetting and privacy leakage can be solved together, without trading one off against the other.</a:t>
            </a:r>
          </a:p>
        </p:txBody>
      </p:sp>
      <p:sp>
        <p:nvSpPr>
          <p:cNvPr id="310" name="Text 6"/>
          <p:cNvSpPr txBox="1"/>
          <p:nvPr/>
        </p:nvSpPr>
        <p:spPr>
          <a:xfrm>
            <a:off x="960119" y="5074920"/>
            <a:ext cx="10241282" cy="46140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1B2A4A"/>
                </a:solidFill>
              </a:defRPr>
            </a:lvl1pPr>
          </a:lstStyle>
          <a:p>
            <a:pPr/>
            <a:r>
              <a:t>Freezing the backbone (LoRA) and scrambling the embedding (CDML) are independent, composable mechanisms and their combination costs nothing on either axis.</a:t>
            </a:r>
          </a:p>
        </p:txBody>
      </p:sp>
      <p:pic>
        <p:nvPicPr>
          <p:cNvPr id="311"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312"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8FC"/>
        </a:solidFill>
      </p:bgPr>
    </p:bg>
    <p:spTree>
      <p:nvGrpSpPr>
        <p:cNvPr id="1" name=""/>
        <p:cNvGrpSpPr/>
        <p:nvPr/>
      </p:nvGrpSpPr>
      <p:grpSpPr>
        <a:xfrm>
          <a:off x="0" y="0"/>
          <a:ext cx="0" cy="0"/>
          <a:chOff x="0" y="0"/>
          <a:chExt cx="0" cy="0"/>
        </a:xfrm>
      </p:grpSpPr>
      <p:sp>
        <p:nvSpPr>
          <p:cNvPr id="314" name="Text 0"/>
          <p:cNvSpPr txBox="1"/>
          <p:nvPr/>
        </p:nvSpPr>
        <p:spPr>
          <a:xfrm>
            <a:off x="594359" y="355907"/>
            <a:ext cx="90525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1C7293"/>
                </a:solidFill>
              </a:defRPr>
            </a:lvl1pPr>
          </a:lstStyle>
          <a:p>
            <a:pPr/>
            <a:r>
              <a:t>CONCLUSIONS</a:t>
            </a:r>
          </a:p>
        </p:txBody>
      </p:sp>
      <p:sp>
        <p:nvSpPr>
          <p:cNvPr id="315" name="Text 1"/>
          <p:cNvSpPr txBox="1"/>
          <p:nvPr/>
        </p:nvSpPr>
        <p:spPr>
          <a:xfrm>
            <a:off x="594359" y="745997"/>
            <a:ext cx="1097280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800">
                <a:solidFill>
                  <a:srgbClr val="1B2A4A"/>
                </a:solidFill>
                <a:latin typeface="Cambria"/>
                <a:ea typeface="Cambria"/>
                <a:cs typeface="Cambria"/>
                <a:sym typeface="Cambria"/>
              </a:defRPr>
            </a:lvl1pPr>
          </a:lstStyle>
          <a:p>
            <a:pPr/>
            <a:r>
              <a:t>Limitations &amp; Future Directions</a:t>
            </a:r>
          </a:p>
        </p:txBody>
      </p:sp>
      <p:sp>
        <p:nvSpPr>
          <p:cNvPr id="316" name="Text 2"/>
          <p:cNvSpPr txBox="1"/>
          <p:nvPr/>
        </p:nvSpPr>
        <p:spPr>
          <a:xfrm>
            <a:off x="594359" y="1433829"/>
            <a:ext cx="525780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B33A3A"/>
                </a:solidFill>
                <a:latin typeface="Cambria"/>
                <a:ea typeface="Cambria"/>
                <a:cs typeface="Cambria"/>
                <a:sym typeface="Cambria"/>
              </a:defRPr>
            </a:lvl1pPr>
          </a:lstStyle>
          <a:p>
            <a:pPr/>
            <a:r>
              <a:t>Limitations</a:t>
            </a:r>
          </a:p>
        </p:txBody>
      </p:sp>
      <p:sp>
        <p:nvSpPr>
          <p:cNvPr id="317" name="Text 3"/>
          <p:cNvSpPr txBox="1"/>
          <p:nvPr/>
        </p:nvSpPr>
        <p:spPr>
          <a:xfrm>
            <a:off x="6126479" y="1433829"/>
            <a:ext cx="544068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600">
                <a:solidFill>
                  <a:srgbClr val="1C7293"/>
                </a:solidFill>
                <a:latin typeface="Cambria"/>
                <a:ea typeface="Cambria"/>
                <a:cs typeface="Cambria"/>
                <a:sym typeface="Cambria"/>
              </a:defRPr>
            </a:lvl1pPr>
          </a:lstStyle>
          <a:p>
            <a:pPr/>
            <a:r>
              <a:t>Future Directions</a:t>
            </a:r>
          </a:p>
        </p:txBody>
      </p:sp>
      <p:sp>
        <p:nvSpPr>
          <p:cNvPr id="318" name="Text 4"/>
          <p:cNvSpPr txBox="1"/>
          <p:nvPr/>
        </p:nvSpPr>
        <p:spPr>
          <a:xfrm>
            <a:off x="594359" y="1874520"/>
            <a:ext cx="5257801" cy="13814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100">
                <a:solidFill>
                  <a:srgbClr val="1B2A4A"/>
                </a:solidFill>
              </a:defRPr>
            </a:pPr>
            <a:r>
              <a:t>Seed &amp; adapter secrecy: </a:t>
            </a:r>
            <a:r>
              <a:rPr b="0"/>
              <a:t>every privacy guarantee collapses once the seed or adapters leak; secure distribution and rotation were never studied.</a:t>
            </a:r>
          </a:p>
          <a:p>
            <a:pPr>
              <a:defRPr b="1" sz="1100">
                <a:solidFill>
                  <a:srgbClr val="1B2A4A"/>
                </a:solidFill>
              </a:defRPr>
            </a:pPr>
            <a:r>
              <a:t>Small datasets behave differently: </a:t>
            </a:r>
            <a:r>
              <a:rPr b="0"/>
              <a:t>task size interacts unpredictably with both forgetting and privacy mechanisms.</a:t>
            </a:r>
          </a:p>
          <a:p>
            <a:pPr>
              <a:defRPr b="1" sz="1100">
                <a:solidFill>
                  <a:srgbClr val="1B2A4A"/>
                </a:solidFill>
              </a:defRPr>
            </a:pPr>
            <a:r>
              <a:t>Privacy untested after transfer: </a:t>
            </a:r>
            <a:r>
              <a:rPr b="0"/>
              <a:t>Chapter 8 measured only accuracy on the transfer models, not attack resistance.</a:t>
            </a:r>
          </a:p>
          <a:p>
            <a:pPr>
              <a:defRPr b="1" sz="1100">
                <a:solidFill>
                  <a:srgbClr val="1B2A4A"/>
                </a:solidFill>
              </a:defRPr>
            </a:pPr>
            <a:r>
              <a:t>No dedicated backdoor defense: </a:t>
            </a:r>
            <a:r>
              <a:rPr b="0"/>
              <a:t>the robustness observed is a side effect of other mechanisms, not a designed countermeasure.</a:t>
            </a:r>
          </a:p>
        </p:txBody>
      </p:sp>
      <p:sp>
        <p:nvSpPr>
          <p:cNvPr id="319" name="Text 5"/>
          <p:cNvSpPr txBox="1"/>
          <p:nvPr/>
        </p:nvSpPr>
        <p:spPr>
          <a:xfrm>
            <a:off x="6126479" y="1874520"/>
            <a:ext cx="5440681" cy="12163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100">
                <a:solidFill>
                  <a:srgbClr val="1B2A4A"/>
                </a:solidFill>
              </a:defRPr>
            </a:pPr>
            <a:r>
              <a:t>Seed rotation policies: </a:t>
            </a:r>
            <a:r>
              <a:rPr b="0"/>
              <a:t>rotate more frequently for recently enrolled subjects to close the seed-ID asymmetry.</a:t>
            </a:r>
          </a:p>
          <a:p>
            <a:pPr>
              <a:defRPr b="1" sz="1100">
                <a:solidFill>
                  <a:srgbClr val="1B2A4A"/>
                </a:solidFill>
              </a:defRPr>
            </a:pPr>
            <a:r>
              <a:t>Better generative replay: </a:t>
            </a:r>
            <a:r>
              <a:rPr b="0"/>
              <a:t>combine wavelet statistics with a small learned correction.</a:t>
            </a:r>
          </a:p>
          <a:p>
            <a:pPr>
              <a:defRPr b="1" sz="1100">
                <a:solidFill>
                  <a:srgbClr val="1B2A4A"/>
                </a:solidFill>
              </a:defRPr>
            </a:pPr>
            <a:r>
              <a:t>Backdoor-aware adapter checks: </a:t>
            </a:r>
            <a:r>
              <a:rPr b="0"/>
              <a:t>anomaly-check new adapters before acceptance.</a:t>
            </a:r>
          </a:p>
          <a:p>
            <a:pPr>
              <a:defRPr b="1" sz="1100">
                <a:solidFill>
                  <a:srgbClr val="1B2A4A"/>
                </a:solidFill>
              </a:defRPr>
            </a:pPr>
            <a:r>
              <a:t>Extending the evaluation: </a:t>
            </a:r>
            <a:r>
              <a:rPr b="0"/>
              <a:t>re-run privacy attacks on transfer models; consistent MIA; adaptive attackers.</a:t>
            </a:r>
          </a:p>
          <a:p>
            <a:pPr>
              <a:defRPr b="1" sz="1100">
                <a:solidFill>
                  <a:srgbClr val="1B2A4A"/>
                </a:solidFill>
              </a:defRPr>
            </a:pPr>
            <a:r>
              <a:t>Larger, heterogeneous datasets: </a:t>
            </a:r>
            <a:r>
              <a:rPr b="0"/>
              <a:t>different sensor placements and a wider variety of activities.</a:t>
            </a:r>
          </a:p>
        </p:txBody>
      </p:sp>
      <p:pic>
        <p:nvPicPr>
          <p:cNvPr id="320" name="logo-2.png" descr="logo-2.png"/>
          <p:cNvPicPr>
            <a:picLocks noChangeAspect="1"/>
          </p:cNvPicPr>
          <p:nvPr/>
        </p:nvPicPr>
        <p:blipFill>
          <a:blip r:embed="rId2">
            <a:extLst/>
          </a:blip>
          <a:stretch>
            <a:fillRect/>
          </a:stretch>
        </p:blipFill>
        <p:spPr>
          <a:xfrm>
            <a:off x="9928565" y="40834"/>
            <a:ext cx="2211422" cy="547622"/>
          </a:xfrm>
          <a:prstGeom prst="rect">
            <a:avLst/>
          </a:prstGeom>
          <a:ln w="12700">
            <a:miter lim="400000"/>
          </a:ln>
        </p:spPr>
      </p:pic>
      <p:sp>
        <p:nvSpPr>
          <p:cNvPr id="321" name="Numero diapositiva"/>
          <p:cNvSpPr txBox="1"/>
          <p:nvPr>
            <p:ph type="sldNum" sz="quarter" idx="2"/>
          </p:nvPr>
        </p:nvSpPr>
        <p:spPr>
          <a:xfrm>
            <a:off x="9121268" y="6260400"/>
            <a:ext cx="2844801" cy="36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B2A4A"/>
        </a:solidFill>
      </p:bgPr>
    </p:bg>
    <p:spTree>
      <p:nvGrpSpPr>
        <p:cNvPr id="1" name=""/>
        <p:cNvGrpSpPr/>
        <p:nvPr/>
      </p:nvGrpSpPr>
      <p:grpSpPr>
        <a:xfrm>
          <a:off x="0" y="0"/>
          <a:ext cx="0" cy="0"/>
          <a:chOff x="0" y="0"/>
          <a:chExt cx="0" cy="0"/>
        </a:xfrm>
      </p:grpSpPr>
      <p:sp>
        <p:nvSpPr>
          <p:cNvPr id="323" name="Shape 0"/>
          <p:cNvSpPr/>
          <p:nvPr/>
        </p:nvSpPr>
        <p:spPr>
          <a:xfrm>
            <a:off x="-2926080" y="3931920"/>
            <a:ext cx="5943601" cy="5943601"/>
          </a:xfrm>
          <a:prstGeom prst="ellipse">
            <a:avLst/>
          </a:prstGeom>
          <a:solidFill>
            <a:srgbClr val="1B2A4A"/>
          </a:solidFill>
          <a:ln w="19050">
            <a:solidFill>
              <a:srgbClr val="2E3F66"/>
            </a:solidFill>
          </a:ln>
        </p:spPr>
        <p:txBody>
          <a:bodyPr lIns="45719" rIns="45719"/>
          <a:lstStyle/>
          <a:p>
            <a:pPr/>
          </a:p>
        </p:txBody>
      </p:sp>
      <p:sp>
        <p:nvSpPr>
          <p:cNvPr id="324" name="Shape 1"/>
          <p:cNvSpPr/>
          <p:nvPr/>
        </p:nvSpPr>
        <p:spPr>
          <a:xfrm>
            <a:off x="-2011680" y="4846320"/>
            <a:ext cx="4114801" cy="4114801"/>
          </a:xfrm>
          <a:prstGeom prst="ellipse">
            <a:avLst/>
          </a:prstGeom>
          <a:solidFill>
            <a:srgbClr val="1B2A4A"/>
          </a:solidFill>
          <a:ln w="15875">
            <a:solidFill>
              <a:srgbClr val="35486F"/>
            </a:solidFill>
          </a:ln>
        </p:spPr>
        <p:txBody>
          <a:bodyPr lIns="45719" rIns="45719"/>
          <a:lstStyle/>
          <a:p>
            <a:pPr/>
          </a:p>
        </p:txBody>
      </p:sp>
      <p:sp>
        <p:nvSpPr>
          <p:cNvPr id="325" name="Text 2"/>
          <p:cNvSpPr txBox="1"/>
          <p:nvPr/>
        </p:nvSpPr>
        <p:spPr>
          <a:xfrm>
            <a:off x="45719" y="2491740"/>
            <a:ext cx="12097513" cy="777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4600">
                <a:solidFill>
                  <a:srgbClr val="FFFFFF"/>
                </a:solidFill>
                <a:latin typeface="Cambria"/>
                <a:ea typeface="Cambria"/>
                <a:cs typeface="Cambria"/>
                <a:sym typeface="Cambria"/>
              </a:defRPr>
            </a:lvl1pPr>
          </a:lstStyle>
          <a:p>
            <a:pPr/>
            <a:r>
              <a:t>Thank You!</a:t>
            </a:r>
          </a:p>
        </p:txBody>
      </p:sp>
      <p:sp>
        <p:nvSpPr>
          <p:cNvPr id="326" name="Text 3"/>
          <p:cNvSpPr txBox="1"/>
          <p:nvPr/>
        </p:nvSpPr>
        <p:spPr>
          <a:xfrm>
            <a:off x="45719" y="3538177"/>
            <a:ext cx="12097513"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900">
                <a:solidFill>
                  <a:srgbClr val="BBD6F2"/>
                </a:solidFill>
              </a:defRPr>
            </a:lvl1pPr>
          </a:lstStyle>
          <a:p>
            <a:pPr/>
            <a:r>
              <a:t>Questions &amp; Discussion</a:t>
            </a:r>
          </a:p>
        </p:txBody>
      </p:sp>
      <p:sp>
        <p:nvSpPr>
          <p:cNvPr id="327" name="Text 4"/>
          <p:cNvSpPr txBox="1"/>
          <p:nvPr/>
        </p:nvSpPr>
        <p:spPr>
          <a:xfrm>
            <a:off x="45719" y="5711760"/>
            <a:ext cx="12097513"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8FA8C9"/>
                </a:solidFill>
              </a:defRPr>
            </a:lvl1pPr>
          </a:lstStyle>
          <a:p>
            <a:pPr/>
            <a:r>
              <a:t>Tommaso Danieli  ·  University of Padova — MSc. In Cybersecurity  ·  Supervisor: Prof. Simone Milani</a:t>
            </a:r>
          </a:p>
        </p:txBody>
      </p:sp>
      <p:sp>
        <p:nvSpPr>
          <p:cNvPr id="328" name="Text 5"/>
          <p:cNvSpPr txBox="1"/>
          <p:nvPr/>
        </p:nvSpPr>
        <p:spPr>
          <a:xfrm>
            <a:off x="45719" y="6084247"/>
            <a:ext cx="12097513"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8FA8C9"/>
                </a:solidFill>
              </a:defRPr>
            </a:lvl1pPr>
          </a:lstStyle>
          <a:p>
            <a:pPr/>
            <a:r>
              <a:t>github.com/Tommy270602/Gait_Continual_Learning</a:t>
            </a:r>
          </a:p>
        </p:txBody>
      </p:sp>
      <p:pic>
        <p:nvPicPr>
          <p:cNvPr id="329" name="logo-2.png" descr="logo-2.png"/>
          <p:cNvPicPr>
            <a:picLocks noChangeAspect="1"/>
          </p:cNvPicPr>
          <p:nvPr/>
        </p:nvPicPr>
        <p:blipFill>
          <a:blip r:embed="rId2">
            <a:extLst/>
          </a:blip>
          <a:stretch>
            <a:fillRect/>
          </a:stretch>
        </p:blipFill>
        <p:spPr>
          <a:xfrm>
            <a:off x="3658444" y="476343"/>
            <a:ext cx="4875112" cy="1207239"/>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